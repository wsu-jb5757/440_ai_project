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13"/>
  </p:notesMasterIdLst>
  <p:handoutMasterIdLst>
    <p:handoutMasterId r:id="rId14"/>
  </p:handoutMasterIdLst>
  <p:sldIdLst>
    <p:sldId id="1497" r:id="rId5"/>
    <p:sldId id="1514" r:id="rId6"/>
    <p:sldId id="1516" r:id="rId7"/>
    <p:sldId id="1503" r:id="rId8"/>
    <p:sldId id="1506" r:id="rId9"/>
    <p:sldId id="1519" r:id="rId10"/>
    <p:sldId id="1511" r:id="rId11"/>
    <p:sldId id="151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p:normalViewPr>
  <p:slideViewPr>
    <p:cSldViewPr snapToGrid="0">
      <p:cViewPr varScale="1">
        <p:scale>
          <a:sx n="78" d="100"/>
          <a:sy n="78" d="100"/>
        </p:scale>
        <p:origin x="154" y="62"/>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5/4/2026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5109527"/>
            <a:ext cx="10923934" cy="730884"/>
          </a:xfrm>
        </p:spPr>
        <p:txBody>
          <a:bodyPr anchor="t">
            <a:no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5857241"/>
            <a:ext cx="10923934" cy="382590"/>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1"/>
            <a:ext cx="12191999" cy="472852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B3EF4EF1-D9A3-1B4B-824F-63DEB13C7D30}" type="datetime1">
              <a:rPr lang="en-US" smtClean="0"/>
              <a:t>5/4/2026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Growth marketing plan</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22160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001714"/>
            <a:ext cx="10923934" cy="75565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30" y="2138372"/>
            <a:ext cx="10923934" cy="40846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41A8624-D4B9-7C44-BA3F-B13CDFB276DF}"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11773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9478" y="632192"/>
            <a:ext cx="4328486" cy="3727766"/>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7" y="4728526"/>
            <a:ext cx="4328487" cy="14944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CEC1856D-4088-6C7C-747C-BFC6B595D2C7}"/>
              </a:ext>
            </a:extLst>
          </p:cNvPr>
          <p:cNvSpPr/>
          <p:nvPr userDrawn="1"/>
        </p:nvSpPr>
        <p:spPr>
          <a:xfrm>
            <a:off x="634036"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86">
            <a:extLst>
              <a:ext uri="{FF2B5EF4-FFF2-40B4-BE49-F238E27FC236}">
                <a16:creationId xmlns:a16="http://schemas.microsoft.com/office/drawing/2014/main" id="{4C2DEE60-7B9C-F5F8-C631-1BBA2E094FEC}"/>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52DEFB05-7E9F-904D-9899-4BFD23D31172}" type="datetime1">
              <a:rPr lang="en-US" smtClean="0"/>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224322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4328068" cy="3346768"/>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328068" cy="14944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5C1AD1B2-D3AF-262A-9F39-408298341F3B}"/>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86">
            <a:extLst>
              <a:ext uri="{FF2B5EF4-FFF2-40B4-BE49-F238E27FC236}">
                <a16:creationId xmlns:a16="http://schemas.microsoft.com/office/drawing/2014/main" id="{84DED33C-5879-E539-4CEC-E4EBF6E3309B}"/>
              </a:ext>
            </a:extLst>
          </p:cNvPr>
          <p:cNvSpPr>
            <a:spLocks noGrp="1"/>
          </p:cNvSpPr>
          <p:nvPr>
            <p:ph type="pic" sz="quarter" idx="17"/>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253768E5-88AD-F345-813B-E822455F98B0}" type="datetime1">
              <a:rPr lang="en-US" smtClean="0"/>
              <a:t>5/4/2026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Growth marketing plan</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872996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7538424" cy="3346767"/>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353868"/>
            <a:ext cx="7538424" cy="1869132"/>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FEF188D7-4720-D141-81CC-740F79D50C31}" type="datetime1">
              <a:rPr lang="en-US" smtClean="0"/>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9327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8367" y="634999"/>
            <a:ext cx="7514087" cy="372776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7" y="4743766"/>
            <a:ext cx="7514087" cy="1113476"/>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6FDE768-21C6-CE4B-B654-E1D0DDCC05FD}" type="datetime1">
              <a:rPr lang="en-US" smtClean="0"/>
              <a:t>5/4/2026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Tree>
    <p:extLst>
      <p:ext uri="{BB962C8B-B14F-4D97-AF65-F5344CB8AC3E}">
        <p14:creationId xmlns:p14="http://schemas.microsoft.com/office/powerpoint/2010/main" val="15640903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404262"/>
            <a:ext cx="7924802" cy="2577504"/>
          </a:xfrm>
        </p:spPr>
        <p:txBody>
          <a:bodyPr anchor="b">
            <a:normAutofit/>
          </a:bodyPr>
          <a:lstStyle>
            <a:lvl1pPr algn="ctr">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3" y="4362765"/>
            <a:ext cx="7924802" cy="1112519"/>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835D13D-5B61-AA42-A678-BA823C019B39}" type="datetime1">
              <a:rPr lang="en-US" smtClean="0"/>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74374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pic>
        <p:nvPicPr>
          <p:cNvPr id="74" name="Graphic 73">
            <a:extLst>
              <a:ext uri="{FF2B5EF4-FFF2-40B4-BE49-F238E27FC236}">
                <a16:creationId xmlns:a16="http://schemas.microsoft.com/office/drawing/2014/main" id="{234E1407-29E4-7E4C-3151-4DB2B1D49D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21680" y="634999"/>
            <a:ext cx="5736284" cy="559008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8368" y="1381759"/>
            <a:ext cx="4690543" cy="4977581"/>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634999"/>
            <a:ext cx="4690543" cy="375615"/>
          </a:xfrm>
        </p:spPr>
        <p:txBody>
          <a:bodyPr anchor="t">
            <a:noAutofit/>
          </a:bodyPr>
          <a:lstStyle>
            <a:lvl1pPr marL="0" indent="0" algn="l">
              <a:buNone/>
              <a:defRPr sz="1800" b="1" i="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F0419B-7218-144B-AE0A-3AE9A5E7F34E}" type="datetime1">
              <a:rPr lang="en-US" smtClean="0"/>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94674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solidFill>
        <a:effectLst/>
      </p:bgPr>
    </p:bg>
    <p:spTree>
      <p:nvGrpSpPr>
        <p:cNvPr id="1" name=""/>
        <p:cNvGrpSpPr/>
        <p:nvPr/>
      </p:nvGrpSpPr>
      <p:grpSpPr>
        <a:xfrm>
          <a:off x="0" y="0"/>
          <a:ext cx="0" cy="0"/>
          <a:chOff x="0" y="0"/>
          <a:chExt cx="0" cy="0"/>
        </a:xfrm>
      </p:grpSpPr>
      <p:sp>
        <p:nvSpPr>
          <p:cNvPr id="65" name="Graphic 61">
            <a:extLst>
              <a:ext uri="{FF2B5EF4-FFF2-40B4-BE49-F238E27FC236}">
                <a16:creationId xmlns:a16="http://schemas.microsoft.com/office/drawing/2014/main" id="{0A63388B-7024-A217-D604-87110EA803E6}"/>
              </a:ext>
            </a:extLst>
          </p:cNvPr>
          <p:cNvSpPr/>
          <p:nvPr userDrawn="1"/>
        </p:nvSpPr>
        <p:spPr>
          <a:xfrm>
            <a:off x="5821681" y="631232"/>
            <a:ext cx="6370320" cy="5591768"/>
          </a:xfrm>
          <a:custGeom>
            <a:avLst/>
            <a:gdLst>
              <a:gd name="connsiteX0" fmla="*/ 6286503 w 6286503"/>
              <a:gd name="connsiteY0" fmla="*/ 0 h 5591768"/>
              <a:gd name="connsiteX1" fmla="*/ 0 w 6286503"/>
              <a:gd name="connsiteY1" fmla="*/ 0 h 5591768"/>
              <a:gd name="connsiteX2" fmla="*/ 0 w 6286503"/>
              <a:gd name="connsiteY2" fmla="*/ 5591768 h 5591768"/>
              <a:gd name="connsiteX3" fmla="*/ 6286503 w 6286503"/>
              <a:gd name="connsiteY3" fmla="*/ 5591768 h 5591768"/>
              <a:gd name="connsiteX4" fmla="*/ 6286503 w 6286503"/>
              <a:gd name="connsiteY4" fmla="*/ 4960502 h 5591768"/>
              <a:gd name="connsiteX5" fmla="*/ 5839978 w 6286503"/>
              <a:gd name="connsiteY5" fmla="*/ 2806305 h 5591768"/>
              <a:gd name="connsiteX6" fmla="*/ 4938995 w 6286503"/>
              <a:gd name="connsiteY6" fmla="*/ 4962694 h 5591768"/>
              <a:gd name="connsiteX7" fmla="*/ 4038005 w 6286503"/>
              <a:gd name="connsiteY7" fmla="*/ 2795884 h 5591768"/>
              <a:gd name="connsiteX8" fmla="*/ 4938995 w 6286503"/>
              <a:gd name="connsiteY8" fmla="*/ 629074 h 5591768"/>
              <a:gd name="connsiteX9" fmla="*/ 5839978 w 6286503"/>
              <a:gd name="connsiteY9" fmla="*/ 2785463 h 5591768"/>
              <a:gd name="connsiteX10" fmla="*/ 6286503 w 6286503"/>
              <a:gd name="connsiteY10" fmla="*/ 631266 h 5591768"/>
              <a:gd name="connsiteX11" fmla="*/ 6286503 w 6286503"/>
              <a:gd name="connsiteY11" fmla="*/ 0 h 5591768"/>
              <a:gd name="connsiteX12" fmla="*/ 4037967 w 6286503"/>
              <a:gd name="connsiteY12" fmla="*/ 2795884 h 5591768"/>
              <a:gd name="connsiteX13" fmla="*/ 2612709 w 6286503"/>
              <a:gd name="connsiteY13" fmla="*/ 4962694 h 5591768"/>
              <a:gd name="connsiteX14" fmla="*/ 1187451 w 6286503"/>
              <a:gd name="connsiteY14" fmla="*/ 2795884 h 5591768"/>
              <a:gd name="connsiteX15" fmla="*/ 2612709 w 6286503"/>
              <a:gd name="connsiteY15" fmla="*/ 629074 h 5591768"/>
              <a:gd name="connsiteX16" fmla="*/ 4037967 w 6286503"/>
              <a:gd name="connsiteY16" fmla="*/ 2795884 h 559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286503" h="5591768">
                <a:moveTo>
                  <a:pt x="6286503" y="0"/>
                </a:moveTo>
                <a:lnTo>
                  <a:pt x="0" y="0"/>
                </a:lnTo>
                <a:lnTo>
                  <a:pt x="0" y="5591768"/>
                </a:lnTo>
                <a:lnTo>
                  <a:pt x="6286503" y="5591768"/>
                </a:lnTo>
                <a:lnTo>
                  <a:pt x="6286503" y="4960502"/>
                </a:lnTo>
                <a:cubicBezTo>
                  <a:pt x="6038758" y="4909248"/>
                  <a:pt x="5841152" y="3965294"/>
                  <a:pt x="5839978" y="2806305"/>
                </a:cubicBezTo>
                <a:cubicBezTo>
                  <a:pt x="5837641" y="3998210"/>
                  <a:pt x="5435152" y="4962694"/>
                  <a:pt x="4938995" y="4962694"/>
                </a:cubicBezTo>
                <a:cubicBezTo>
                  <a:pt x="4441396" y="4962694"/>
                  <a:pt x="4038005" y="3992580"/>
                  <a:pt x="4038005" y="2795884"/>
                </a:cubicBezTo>
                <a:cubicBezTo>
                  <a:pt x="4038005" y="1599189"/>
                  <a:pt x="4441396" y="629074"/>
                  <a:pt x="4938995" y="629074"/>
                </a:cubicBezTo>
                <a:cubicBezTo>
                  <a:pt x="5435152" y="629074"/>
                  <a:pt x="5837641" y="1593559"/>
                  <a:pt x="5839978" y="2785463"/>
                </a:cubicBezTo>
                <a:cubicBezTo>
                  <a:pt x="5841152" y="1626474"/>
                  <a:pt x="6038758" y="682520"/>
                  <a:pt x="6286503" y="631266"/>
                </a:cubicBezTo>
                <a:lnTo>
                  <a:pt x="6286503" y="0"/>
                </a:lnTo>
                <a:close/>
                <a:moveTo>
                  <a:pt x="4037967" y="2795884"/>
                </a:moveTo>
                <a:cubicBezTo>
                  <a:pt x="4037967" y="3992580"/>
                  <a:pt x="3399855" y="4962694"/>
                  <a:pt x="2612709" y="4962694"/>
                </a:cubicBezTo>
                <a:cubicBezTo>
                  <a:pt x="1825562" y="4962694"/>
                  <a:pt x="1187451" y="3992580"/>
                  <a:pt x="1187451" y="2795884"/>
                </a:cubicBezTo>
                <a:cubicBezTo>
                  <a:pt x="1187451" y="1599189"/>
                  <a:pt x="1825562" y="629074"/>
                  <a:pt x="2612709" y="629074"/>
                </a:cubicBezTo>
                <a:cubicBezTo>
                  <a:pt x="3399855" y="629074"/>
                  <a:pt x="4037967" y="1599189"/>
                  <a:pt x="4037967" y="2795884"/>
                </a:cubicBezTo>
                <a:close/>
              </a:path>
            </a:pathLst>
          </a:custGeom>
          <a:solidFill>
            <a:schemeClr val="accent1"/>
          </a:solidFill>
          <a:ln w="635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748474"/>
            <a:ext cx="4714880" cy="4622443"/>
          </a:xfrm>
        </p:spPr>
        <p:txBody>
          <a:bodyPr anchor="b">
            <a:normAutofit/>
          </a:bodyPr>
          <a:lstStyle>
            <a:lvl1pPr algn="l">
              <a:defRPr sz="3600">
                <a:solidFill>
                  <a:schemeClr val="accent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1D9101-0A20-A644-B98A-5AAB72007147}" type="datetime1">
              <a:rPr lang="en-US" smtClean="0"/>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792379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748474"/>
            <a:ext cx="4714880" cy="4622443"/>
          </a:xfrm>
        </p:spPr>
        <p:txBody>
          <a:bodyPr anchor="b">
            <a:normAutofit/>
          </a:bodyPr>
          <a:lstStyle>
            <a:lvl1pPr algn="l">
              <a:defRPr sz="3600">
                <a:solidFill>
                  <a:schemeClr val="accent2"/>
                </a:solidFill>
              </a:defRPr>
            </a:lvl1pPr>
          </a:lstStyle>
          <a:p>
            <a:r>
              <a:rPr lang="en-US"/>
              <a:t>Click to edit Master title style</a:t>
            </a:r>
            <a:endParaRPr lang="en-US" dirty="0"/>
          </a:p>
        </p:txBody>
      </p:sp>
      <p:sp>
        <p:nvSpPr>
          <p:cNvPr id="38" name="Freeform 37">
            <a:extLst>
              <a:ext uri="{FF2B5EF4-FFF2-40B4-BE49-F238E27FC236}">
                <a16:creationId xmlns:a16="http://schemas.microsoft.com/office/drawing/2014/main" id="{AC5D035A-BE15-109F-79F7-BD7B8ADBC513}"/>
              </a:ext>
            </a:extLst>
          </p:cNvPr>
          <p:cNvSpPr/>
          <p:nvPr userDrawn="1"/>
        </p:nvSpPr>
        <p:spPr>
          <a:xfrm>
            <a:off x="5821681" y="-5731"/>
            <a:ext cx="5736284" cy="6228731"/>
          </a:xfrm>
          <a:custGeom>
            <a:avLst/>
            <a:gdLst>
              <a:gd name="connsiteX0" fmla="*/ 2868142 w 5736284"/>
              <a:gd name="connsiteY0" fmla="*/ 634964 h 6228731"/>
              <a:gd name="connsiteX1" fmla="*/ 702690 w 5736284"/>
              <a:gd name="connsiteY1" fmla="*/ 1103204 h 6228731"/>
              <a:gd name="connsiteX2" fmla="*/ 2857727 w 5736284"/>
              <a:gd name="connsiteY2" fmla="*/ 1571436 h 6228731"/>
              <a:gd name="connsiteX3" fmla="*/ 702690 w 5736284"/>
              <a:gd name="connsiteY3" fmla="*/ 2473342 h 6228731"/>
              <a:gd name="connsiteX4" fmla="*/ 2868142 w 5736284"/>
              <a:gd name="connsiteY4" fmla="*/ 3375255 h 6228731"/>
              <a:gd name="connsiteX5" fmla="*/ 5033593 w 5736284"/>
              <a:gd name="connsiteY5" fmla="*/ 2473342 h 6228731"/>
              <a:gd name="connsiteX6" fmla="*/ 2878556 w 5736284"/>
              <a:gd name="connsiteY6" fmla="*/ 1571436 h 6228731"/>
              <a:gd name="connsiteX7" fmla="*/ 5033593 w 5736284"/>
              <a:gd name="connsiteY7" fmla="*/ 1103204 h 6228731"/>
              <a:gd name="connsiteX8" fmla="*/ 2868142 w 5736284"/>
              <a:gd name="connsiteY8" fmla="*/ 634964 h 6228731"/>
              <a:gd name="connsiteX9" fmla="*/ 0 w 5736284"/>
              <a:gd name="connsiteY9" fmla="*/ 0 h 6228731"/>
              <a:gd name="connsiteX10" fmla="*/ 5736284 w 5736284"/>
              <a:gd name="connsiteY10" fmla="*/ 0 h 6228731"/>
              <a:gd name="connsiteX11" fmla="*/ 5736284 w 5736284"/>
              <a:gd name="connsiteY11" fmla="*/ 6228731 h 6228731"/>
              <a:gd name="connsiteX12" fmla="*/ 2868142 w 5736284"/>
              <a:gd name="connsiteY12" fmla="*/ 6228731 h 6228731"/>
              <a:gd name="connsiteX13" fmla="*/ 5033593 w 5736284"/>
              <a:gd name="connsiteY13" fmla="*/ 4802012 h 6228731"/>
              <a:gd name="connsiteX14" fmla="*/ 2868142 w 5736284"/>
              <a:gd name="connsiteY14" fmla="*/ 3375293 h 6228731"/>
              <a:gd name="connsiteX15" fmla="*/ 702690 w 5736284"/>
              <a:gd name="connsiteY15" fmla="*/ 4802012 h 6228731"/>
              <a:gd name="connsiteX16" fmla="*/ 2868142 w 5736284"/>
              <a:gd name="connsiteY16" fmla="*/ 6228731 h 6228731"/>
              <a:gd name="connsiteX17" fmla="*/ 0 w 5736284"/>
              <a:gd name="connsiteY17" fmla="*/ 6228731 h 622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36284" h="6228731">
                <a:moveTo>
                  <a:pt x="2868142" y="634964"/>
                </a:moveTo>
                <a:cubicBezTo>
                  <a:pt x="1672197" y="634964"/>
                  <a:pt x="702690" y="844602"/>
                  <a:pt x="702690" y="1103204"/>
                </a:cubicBezTo>
                <a:cubicBezTo>
                  <a:pt x="702690" y="1361054"/>
                  <a:pt x="1666570" y="1570228"/>
                  <a:pt x="2857727" y="1571436"/>
                </a:cubicBezTo>
                <a:cubicBezTo>
                  <a:pt x="1666570" y="1573775"/>
                  <a:pt x="702690" y="1976676"/>
                  <a:pt x="702690" y="2473342"/>
                </a:cubicBezTo>
                <a:cubicBezTo>
                  <a:pt x="702690" y="2971451"/>
                  <a:pt x="1672197" y="3375255"/>
                  <a:pt x="2868142" y="3375255"/>
                </a:cubicBezTo>
                <a:cubicBezTo>
                  <a:pt x="4064087" y="3375255"/>
                  <a:pt x="5033593" y="2971451"/>
                  <a:pt x="5033593" y="2473342"/>
                </a:cubicBezTo>
                <a:cubicBezTo>
                  <a:pt x="5033593" y="1976676"/>
                  <a:pt x="4069714" y="1573775"/>
                  <a:pt x="2878556" y="1571436"/>
                </a:cubicBezTo>
                <a:cubicBezTo>
                  <a:pt x="4069714" y="1570228"/>
                  <a:pt x="5033593" y="1361054"/>
                  <a:pt x="5033593" y="1103204"/>
                </a:cubicBezTo>
                <a:cubicBezTo>
                  <a:pt x="5033593" y="844602"/>
                  <a:pt x="4064087" y="634964"/>
                  <a:pt x="2868142" y="634964"/>
                </a:cubicBezTo>
                <a:close/>
                <a:moveTo>
                  <a:pt x="0" y="0"/>
                </a:moveTo>
                <a:lnTo>
                  <a:pt x="5736284" y="0"/>
                </a:lnTo>
                <a:lnTo>
                  <a:pt x="5736284" y="6228731"/>
                </a:lnTo>
                <a:lnTo>
                  <a:pt x="2868142" y="6228731"/>
                </a:lnTo>
                <a:cubicBezTo>
                  <a:pt x="4064087" y="6228731"/>
                  <a:pt x="5033593" y="5589965"/>
                  <a:pt x="5033593" y="4802012"/>
                </a:cubicBezTo>
                <a:cubicBezTo>
                  <a:pt x="5033593" y="4014059"/>
                  <a:pt x="4064087" y="3375293"/>
                  <a:pt x="2868142" y="3375293"/>
                </a:cubicBezTo>
                <a:cubicBezTo>
                  <a:pt x="1672197" y="3375293"/>
                  <a:pt x="702690" y="4014059"/>
                  <a:pt x="702690" y="4802012"/>
                </a:cubicBezTo>
                <a:cubicBezTo>
                  <a:pt x="702690" y="5589965"/>
                  <a:pt x="1672197" y="6228731"/>
                  <a:pt x="2868142" y="6228731"/>
                </a:cubicBezTo>
                <a:lnTo>
                  <a:pt x="0" y="62287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111D9101-0A20-A644-B98A-5AAB72007147}" type="datetime1">
              <a:rPr lang="en-US" smtClean="0"/>
              <a:pPr/>
              <a:t>5/4/2026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349736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9" y="664108"/>
            <a:ext cx="8481400" cy="1465367"/>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9" y="2495234"/>
            <a:ext cx="8481400" cy="3727766"/>
          </a:xfrm>
        </p:spPr>
        <p:txBody>
          <a:bodyP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C3D50EA-7C99-C642-BDB8-78B050F52948}" type="datetime1">
              <a:rPr lang="en-US" smtClean="0"/>
              <a:t>5/4/2026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97060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6"/>
            <a:ext cx="4663440" cy="1503374"/>
          </a:xfrm>
        </p:spPr>
        <p:txBody>
          <a:bodyPr anchor="b">
            <a:normAutofit/>
          </a:bodyPr>
          <a:lstStyle>
            <a:lvl1pPr>
              <a:defRPr sz="3600"/>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78BB3D62-CDA4-76D5-336B-27C0EC9C46CE}"/>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34">
            <a:extLst>
              <a:ext uri="{FF2B5EF4-FFF2-40B4-BE49-F238E27FC236}">
                <a16:creationId xmlns:a16="http://schemas.microsoft.com/office/drawing/2014/main" id="{889B4C2F-1506-76B3-8948-1B68AC994F09}"/>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86088"/>
            <a:ext cx="4663440" cy="3336912"/>
          </a:xfrm>
        </p:spPr>
        <p:txBody>
          <a:bodyPr>
            <a:normAutofit/>
          </a:bodyPr>
          <a:lstStyle>
            <a:lvl1pPr marL="457200" indent="-457200">
              <a:buFont typeface="+mj-lt"/>
              <a:buAutoNum type="arabicPeriod"/>
              <a:defRPr sz="1600"/>
            </a:lvl1pPr>
            <a:lvl2pPr marL="571500" indent="-3429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F157801D-503B-EF46-ADEC-5C959CCCA979}" type="datetime1">
              <a:rPr lang="en-US" smtClean="0"/>
              <a:t>5/4/2026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8226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7343" y="1001716"/>
            <a:ext cx="4305184" cy="755658"/>
          </a:xfrm>
        </p:spPr>
        <p:txBody>
          <a:bodyPr anchor="t">
            <a:normAutofit/>
          </a:bodyPr>
          <a:lstStyle>
            <a:lvl1pPr>
              <a:defRPr sz="3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7343" y="2138373"/>
            <a:ext cx="4331151" cy="4084627"/>
          </a:xfrm>
        </p:spPr>
        <p:txBody>
          <a:bodyPr>
            <a:normAutofit/>
          </a:bodyPr>
          <a:lstStyle>
            <a:lvl1pPr marL="457200" indent="-457200">
              <a:lnSpc>
                <a:spcPct val="90000"/>
              </a:lnSpc>
              <a:buFont typeface="+mj-lt"/>
              <a:buAutoNum type="arabicPeriod"/>
              <a:defRPr sz="1800"/>
            </a:lvl1pPr>
            <a:lvl2pPr marL="571500" indent="-342900">
              <a:lnSpc>
                <a:spcPct val="90000"/>
              </a:lnSpc>
              <a:buFont typeface="+mj-lt"/>
              <a:buAutoNum type="arabicPeriod"/>
              <a:defRPr sz="1800"/>
            </a:lvl2pPr>
            <a:lvl3pPr marL="800100" indent="-342900">
              <a:lnSpc>
                <a:spcPct val="90000"/>
              </a:lnSpc>
              <a:buFont typeface="+mj-lt"/>
              <a:buAutoNum type="arabicPeriod"/>
              <a:defRPr sz="1800"/>
            </a:lvl3pPr>
            <a:lvl4pPr marL="1028700" indent="-342900">
              <a:lnSpc>
                <a:spcPct val="90000"/>
              </a:lnSpc>
              <a:buFont typeface="+mj-lt"/>
              <a:buAutoNum type="arabicPeriod"/>
              <a:defRPr sz="1800"/>
            </a:lvl4pPr>
            <a:lvl5pPr>
              <a:lnSpc>
                <a:spcPct val="90000"/>
              </a:lnSpc>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1" name="Rectangle 100">
            <a:extLst>
              <a:ext uri="{FF2B5EF4-FFF2-40B4-BE49-F238E27FC236}">
                <a16:creationId xmlns:a16="http://schemas.microsoft.com/office/drawing/2014/main" id="{E65F00CF-7379-A045-910C-C8066878311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34">
            <a:extLst>
              <a:ext uri="{FF2B5EF4-FFF2-40B4-BE49-F238E27FC236}">
                <a16:creationId xmlns:a16="http://schemas.microsoft.com/office/drawing/2014/main" id="{8E8E9733-3F6B-B96D-7402-8479FE56307A}"/>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0DEB9912-DA83-3943-A195-65BA8C060432}" type="datetime1">
              <a:rPr lang="en-US" smtClean="0"/>
              <a:t>5/4/2026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6675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EAFFA32D-4823-3A31-3A5A-72A0B530D8A2}"/>
              </a:ext>
            </a:extLst>
          </p:cNvPr>
          <p:cNvSpPr/>
          <p:nvPr userDrawn="1"/>
        </p:nvSpPr>
        <p:spPr>
          <a:xfrm rot="5400000" flipV="1">
            <a:off x="322554" y="307271"/>
            <a:ext cx="5329421" cy="4714880"/>
          </a:xfrm>
          <a:custGeom>
            <a:avLst/>
            <a:gdLst>
              <a:gd name="connsiteX0" fmla="*/ 1894180 w 5329421"/>
              <a:gd name="connsiteY0" fmla="*/ 2357439 h 4714880"/>
              <a:gd name="connsiteX1" fmla="*/ 3578496 w 5329421"/>
              <a:gd name="connsiteY1" fmla="*/ 4714878 h 4714880"/>
              <a:gd name="connsiteX2" fmla="*/ 3611865 w 5329421"/>
              <a:gd name="connsiteY2" fmla="*/ 4712520 h 4714880"/>
              <a:gd name="connsiteX3" fmla="*/ 3645262 w 5329421"/>
              <a:gd name="connsiteY3" fmla="*/ 4714880 h 4714880"/>
              <a:gd name="connsiteX4" fmla="*/ 5320882 w 5329421"/>
              <a:gd name="connsiteY4" fmla="*/ 2598475 h 4714880"/>
              <a:gd name="connsiteX5" fmla="*/ 5329421 w 5329421"/>
              <a:gd name="connsiteY5" fmla="*/ 2361794 h 4714880"/>
              <a:gd name="connsiteX6" fmla="*/ 5329421 w 5329421"/>
              <a:gd name="connsiteY6" fmla="*/ 2353088 h 4714880"/>
              <a:gd name="connsiteX7" fmla="*/ 5320882 w 5329421"/>
              <a:gd name="connsiteY7" fmla="*/ 2116407 h 4714880"/>
              <a:gd name="connsiteX8" fmla="*/ 3645262 w 5329421"/>
              <a:gd name="connsiteY8" fmla="*/ 2 h 4714880"/>
              <a:gd name="connsiteX9" fmla="*/ 3611893 w 5329421"/>
              <a:gd name="connsiteY9" fmla="*/ 2361 h 4714880"/>
              <a:gd name="connsiteX10" fmla="*/ 3578496 w 5329421"/>
              <a:gd name="connsiteY10" fmla="*/ 0 h 4714880"/>
              <a:gd name="connsiteX11" fmla="*/ 1894180 w 5329421"/>
              <a:gd name="connsiteY11" fmla="*/ 2357439 h 4714880"/>
              <a:gd name="connsiteX12" fmla="*/ 0 w 5329421"/>
              <a:gd name="connsiteY12" fmla="*/ 881203 h 4714880"/>
              <a:gd name="connsiteX13" fmla="*/ 0 w 5329421"/>
              <a:gd name="connsiteY13" fmla="*/ 3833675 h 4714880"/>
              <a:gd name="connsiteX14" fmla="*/ 9467 w 5329421"/>
              <a:gd name="connsiteY14" fmla="*/ 3861551 h 4714880"/>
              <a:gd name="connsiteX15" fmla="*/ 829380 w 5329421"/>
              <a:gd name="connsiteY15" fmla="*/ 4714878 h 4714880"/>
              <a:gd name="connsiteX16" fmla="*/ 1894134 w 5329421"/>
              <a:gd name="connsiteY16" fmla="*/ 2357439 h 4714880"/>
              <a:gd name="connsiteX17" fmla="*/ 829380 w 5329421"/>
              <a:gd name="connsiteY17" fmla="*/ 0 h 4714880"/>
              <a:gd name="connsiteX18" fmla="*/ 9467 w 5329421"/>
              <a:gd name="connsiteY18" fmla="*/ 853328 h 471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29421" h="4714880">
                <a:moveTo>
                  <a:pt x="1894180" y="2357439"/>
                </a:moveTo>
                <a:cubicBezTo>
                  <a:pt x="1894180" y="3659415"/>
                  <a:pt x="2648276" y="4714878"/>
                  <a:pt x="3578496" y="4714878"/>
                </a:cubicBezTo>
                <a:lnTo>
                  <a:pt x="3611865" y="4712520"/>
                </a:lnTo>
                <a:lnTo>
                  <a:pt x="3645262" y="4714880"/>
                </a:lnTo>
                <a:cubicBezTo>
                  <a:pt x="4517343" y="4714880"/>
                  <a:pt x="5234628" y="3787227"/>
                  <a:pt x="5320882" y="2598475"/>
                </a:cubicBezTo>
                <a:lnTo>
                  <a:pt x="5329421" y="2361794"/>
                </a:lnTo>
                <a:lnTo>
                  <a:pt x="5329421" y="2353088"/>
                </a:lnTo>
                <a:lnTo>
                  <a:pt x="5320882" y="2116407"/>
                </a:lnTo>
                <a:cubicBezTo>
                  <a:pt x="5234628" y="927654"/>
                  <a:pt x="4517343" y="2"/>
                  <a:pt x="3645262" y="2"/>
                </a:cubicBezTo>
                <a:lnTo>
                  <a:pt x="3611893" y="2361"/>
                </a:lnTo>
                <a:lnTo>
                  <a:pt x="3578496" y="0"/>
                </a:lnTo>
                <a:cubicBezTo>
                  <a:pt x="2648276" y="0"/>
                  <a:pt x="1894180" y="1055462"/>
                  <a:pt x="1894180" y="2357439"/>
                </a:cubicBezTo>
                <a:close/>
                <a:moveTo>
                  <a:pt x="0" y="881203"/>
                </a:moveTo>
                <a:lnTo>
                  <a:pt x="0" y="3833675"/>
                </a:lnTo>
                <a:lnTo>
                  <a:pt x="9467" y="3861551"/>
                </a:lnTo>
                <a:cubicBezTo>
                  <a:pt x="204772" y="4382861"/>
                  <a:pt x="499564" y="4714878"/>
                  <a:pt x="829380" y="4714878"/>
                </a:cubicBezTo>
                <a:cubicBezTo>
                  <a:pt x="1417423" y="4714878"/>
                  <a:pt x="1894134" y="3659415"/>
                  <a:pt x="1894134" y="2357439"/>
                </a:cubicBezTo>
                <a:cubicBezTo>
                  <a:pt x="1894134" y="1055462"/>
                  <a:pt x="1417423" y="0"/>
                  <a:pt x="829380" y="0"/>
                </a:cubicBezTo>
                <a:cubicBezTo>
                  <a:pt x="499564" y="0"/>
                  <a:pt x="204772" y="332017"/>
                  <a:pt x="9467" y="853328"/>
                </a:cubicBezTo>
                <a:close/>
              </a:path>
            </a:pathLst>
          </a:custGeom>
          <a:solidFill>
            <a:schemeClr val="accent2"/>
          </a:solidFill>
          <a:ln w="678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6" y="2495233"/>
            <a:ext cx="4714881" cy="2233293"/>
          </a:xfrm>
        </p:spPr>
        <p:txBody>
          <a:bodyPr anchor="ctr">
            <a:normAutofit/>
          </a:bodyPr>
          <a:lstStyle>
            <a:lvl1pPr algn="ctr">
              <a:defRPr sz="36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86500" y="2495233"/>
            <a:ext cx="5271464" cy="2233294"/>
          </a:xfrm>
        </p:spPr>
        <p:txBody>
          <a:bodyPr anchor="ctr"/>
          <a:lstStyle>
            <a:lvl1pPr marL="0" indent="0" algn="l">
              <a:buNone/>
              <a:defRPr/>
            </a:lvl1pPr>
            <a:lvl2pPr marL="228600" indent="0" algn="l">
              <a:buNone/>
              <a:defRPr/>
            </a:lvl2pPr>
            <a:lvl3pPr marL="457200" indent="0" algn="l">
              <a:buNone/>
              <a:defRPr/>
            </a:lvl3pPr>
            <a:lvl4pPr marL="685800" indent="0" algn="l">
              <a:buNone/>
              <a:defRPr/>
            </a:lvl4pPr>
            <a:lvl5pPr marL="914400" indent="0" algn="l">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B0D4203-094B-0D4B-879D-04F5C4F2A8FE}"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0683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90627" y="2129475"/>
            <a:ext cx="3771900" cy="3727766"/>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2129475"/>
            <a:ext cx="5652462"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9E0DAB2-5272-0346-9ECD-E0A6C2764DB4}"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3751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59"/>
            <a:ext cx="4328497" cy="484124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0" y="1381759"/>
            <a:ext cx="5652469" cy="48412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C184B29-56AA-9C42-ADF3-4AB1EB6F403E}"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504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634999"/>
            <a:ext cx="4328498" cy="522224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634999"/>
            <a:ext cx="6209053" cy="56332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ABA7D4-F682-584C-BBAE-B4231503FB62}"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289463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634999"/>
            <a:ext cx="3385523" cy="5588001"/>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6" y="634999"/>
            <a:ext cx="7152028" cy="55880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C5130-9426-2744-B098-3B51DCEC7F04}"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51951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634998"/>
            <a:ext cx="6209053" cy="1056641"/>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385C3C84-2445-A196-7F5F-258A70EC2DB8}"/>
              </a:ext>
            </a:extLst>
          </p:cNvPr>
          <p:cNvSpPr/>
          <p:nvPr userDrawn="1"/>
        </p:nvSpPr>
        <p:spPr>
          <a:xfrm>
            <a:off x="0"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E8E21C7C-0CD1-5AAF-6BBD-63E495FF2552}"/>
              </a:ext>
            </a:extLst>
          </p:cNvPr>
          <p:cNvSpPr>
            <a:spLocks noGrp="1"/>
          </p:cNvSpPr>
          <p:nvPr>
            <p:ph type="pic" sz="quarter" idx="18"/>
          </p:nvPr>
        </p:nvSpPr>
        <p:spPr>
          <a:xfrm>
            <a:off x="4617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129475"/>
            <a:ext cx="6209053"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CB74803-9A2C-034F-B1A1-F6470E6CA660}" type="datetime1">
              <a:rPr lang="en-US" smtClean="0"/>
              <a:t>5/4/2026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Growth marketing plan</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31703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6209065" cy="1098299"/>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129475"/>
            <a:ext cx="6209066"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E4FE2F9A-59A2-7E9F-464F-7A36143AEF3C}"/>
              </a:ext>
            </a:extLst>
          </p:cNvPr>
          <p:cNvSpPr/>
          <p:nvPr userDrawn="1"/>
        </p:nvSpPr>
        <p:spPr>
          <a:xfrm>
            <a:off x="7395223"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9">
            <a:extLst>
              <a:ext uri="{FF2B5EF4-FFF2-40B4-BE49-F238E27FC236}">
                <a16:creationId xmlns:a16="http://schemas.microsoft.com/office/drawing/2014/main" id="{B460171E-C624-E466-975C-D2BE23155D5C}"/>
              </a:ext>
            </a:extLst>
          </p:cNvPr>
          <p:cNvSpPr>
            <a:spLocks noGrp="1"/>
          </p:cNvSpPr>
          <p:nvPr>
            <p:ph type="pic" sz="quarter" idx="18"/>
          </p:nvPr>
        </p:nvSpPr>
        <p:spPr>
          <a:xfrm>
            <a:off x="7856995"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71D3B9E8-F3C1-6446-B37C-65190666CE5C}" type="datetime1">
              <a:rPr lang="en-US" smtClean="0"/>
              <a:t>5/4/2026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Growth marketing plan</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097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9"/>
            <a:ext cx="6595437" cy="1116046"/>
          </a:xfrm>
        </p:spPr>
        <p:txBody>
          <a:bodyPr anchor="b"/>
          <a:lstStyle/>
          <a:p>
            <a:r>
              <a:rPr lang="en-US"/>
              <a:t>Click to edit Master title style</a:t>
            </a:r>
            <a:endParaRPr lang="en-US" dirty="0"/>
          </a:p>
        </p:txBody>
      </p:sp>
      <p:sp>
        <p:nvSpPr>
          <p:cNvPr id="5" name="Rectangle 4">
            <a:extLst>
              <a:ext uri="{FF2B5EF4-FFF2-40B4-BE49-F238E27FC236}">
                <a16:creationId xmlns:a16="http://schemas.microsoft.com/office/drawing/2014/main" id="{91983495-936E-09A0-8CE3-E436C7809CBB}"/>
              </a:ext>
            </a:extLst>
          </p:cNvPr>
          <p:cNvSpPr/>
          <p:nvPr userDrawn="1"/>
        </p:nvSpPr>
        <p:spPr>
          <a:xfrm>
            <a:off x="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9">
            <a:extLst>
              <a:ext uri="{FF2B5EF4-FFF2-40B4-BE49-F238E27FC236}">
                <a16:creationId xmlns:a16="http://schemas.microsoft.com/office/drawing/2014/main" id="{2A8DBB29-ED35-445B-4F04-9E61708B9E2E}"/>
              </a:ext>
            </a:extLst>
          </p:cNvPr>
          <p:cNvSpPr>
            <a:spLocks noGrp="1"/>
          </p:cNvSpPr>
          <p:nvPr>
            <p:ph type="pic" sz="quarter" idx="18"/>
          </p:nvPr>
        </p:nvSpPr>
        <p:spPr>
          <a:xfrm>
            <a:off x="46177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6905"/>
            <a:ext cx="6595437" cy="4096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C94DBE0E-BA63-894B-AD67-B5534C763ECE}" type="datetime1">
              <a:rPr lang="en-US" smtClean="0"/>
              <a:t>5/4/2026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Growth marketing plan</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98775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6836617" cy="107360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9" y="2129474"/>
            <a:ext cx="6823674"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5F4A0309-D065-CD9D-2479-AD56597FB81F}"/>
              </a:ext>
            </a:extLst>
          </p:cNvPr>
          <p:cNvSpPr/>
          <p:nvPr userDrawn="1"/>
        </p:nvSpPr>
        <p:spPr>
          <a:xfrm>
            <a:off x="816864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FD96658A-D342-DC0B-8552-B2E331453254}"/>
              </a:ext>
            </a:extLst>
          </p:cNvPr>
          <p:cNvSpPr>
            <a:spLocks noGrp="1"/>
          </p:cNvSpPr>
          <p:nvPr>
            <p:ph type="pic" sz="quarter" idx="18"/>
          </p:nvPr>
        </p:nvSpPr>
        <p:spPr>
          <a:xfrm>
            <a:off x="863041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998EB195-6C83-E04A-B652-F00DFBE24657}" type="datetime1">
              <a:rPr lang="en-US" smtClean="0"/>
              <a:t>5/4/2026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475588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745" y="634999"/>
            <a:ext cx="4304219" cy="1122375"/>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96E7868F-C970-BDC2-3C59-C3B9D60646EC}"/>
              </a:ext>
            </a:extLst>
          </p:cNvPr>
          <p:cNvSpPr/>
          <p:nvPr userDrawn="1"/>
        </p:nvSpPr>
        <p:spPr>
          <a:xfrm>
            <a:off x="634036" y="1"/>
            <a:ext cx="5736284" cy="6223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86">
            <a:extLst>
              <a:ext uri="{FF2B5EF4-FFF2-40B4-BE49-F238E27FC236}">
                <a16:creationId xmlns:a16="http://schemas.microsoft.com/office/drawing/2014/main" id="{59A01815-2226-42BA-5989-B67063705B27}"/>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129475"/>
            <a:ext cx="4304219"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F19ABAC-CEC0-3744-94EB-1D764E2366A2}"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38464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6" name="Rectangle 85">
            <a:extLst>
              <a:ext uri="{FF2B5EF4-FFF2-40B4-BE49-F238E27FC236}">
                <a16:creationId xmlns:a16="http://schemas.microsoft.com/office/drawing/2014/main" id="{CDFB919A-0FBE-5996-8285-F65A2832E27F}"/>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Picture Placeholder 86">
            <a:extLst>
              <a:ext uri="{FF2B5EF4-FFF2-40B4-BE49-F238E27FC236}">
                <a16:creationId xmlns:a16="http://schemas.microsoft.com/office/drawing/2014/main" id="{17979BA9-1DC6-39F8-19D7-0BC804341A3A}"/>
              </a:ext>
            </a:extLst>
          </p:cNvPr>
          <p:cNvSpPr>
            <a:spLocks noGrp="1"/>
          </p:cNvSpPr>
          <p:nvPr>
            <p:ph type="pic" sz="quarter" idx="15"/>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5/4/2026</a:t>
            </a:fld>
            <a:endParaRPr lang="en-US" dirty="0"/>
          </a:p>
        </p:txBody>
      </p:sp>
    </p:spTree>
    <p:extLst>
      <p:ext uri="{BB962C8B-B14F-4D97-AF65-F5344CB8AC3E}">
        <p14:creationId xmlns:p14="http://schemas.microsoft.com/office/powerpoint/2010/main" val="8512366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4097" y="686054"/>
            <a:ext cx="4333731" cy="932688"/>
          </a:xfrm>
        </p:spPr>
        <p:txBody>
          <a:bodyPr anchor="b"/>
          <a:lstStyle>
            <a:lvl1pPr>
              <a:defRPr sz="32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5B9BC52-F4B9-40D3-13B2-C974CC90EF84}"/>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B5950EFE-356D-C8EA-2569-0F26EFFA4E3F}"/>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34137" y="1748474"/>
            <a:ext cx="4323828" cy="46157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4ED57CA4-9B91-014F-9006-ED823B296BC5}"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293273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74563"/>
            <a:ext cx="4702537"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1748474"/>
            <a:ext cx="4702537" cy="461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2B6030CF-FEDC-475D-1C44-D1A9610C48B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28ECA86B-B2EE-7857-89AB-8C4E9F0712C9}"/>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5B19DAFB-FAB1-764F-BE9B-0C575278000C}"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481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34999"/>
            <a:ext cx="3345301" cy="1113476"/>
          </a:xfrm>
        </p:spPr>
        <p:txBody>
          <a:bodyPr anchor="t">
            <a:noAutofit/>
          </a:bodyPr>
          <a:lstStyle>
            <a:lvl1pPr>
              <a:defRPr sz="36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37101BBF-E06C-C8BD-9613-D1E0E2997D96}"/>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34">
            <a:extLst>
              <a:ext uri="{FF2B5EF4-FFF2-40B4-BE49-F238E27FC236}">
                <a16:creationId xmlns:a16="http://schemas.microsoft.com/office/drawing/2014/main" id="{EC6F8BE1-DBF8-9F46-A1A0-170BE0AC9F44}"/>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129475"/>
            <a:ext cx="3345301"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2FF7BC53-6B45-7742-9EBA-CB5E7E199EB6}" type="datetime1">
              <a:rPr lang="en-US" smtClean="0"/>
              <a:t>5/4/2026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39074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376160" cy="1122375"/>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7" y="2138375"/>
            <a:ext cx="3376160"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C4EE5DEB-00A0-C51B-6DFC-390A6C17BC52}"/>
              </a:ext>
            </a:extLst>
          </p:cNvPr>
          <p:cNvSpPr/>
          <p:nvPr userDrawn="1"/>
        </p:nvSpPr>
        <p:spPr>
          <a:xfrm>
            <a:off x="4674781"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4">
            <a:extLst>
              <a:ext uri="{FF2B5EF4-FFF2-40B4-BE49-F238E27FC236}">
                <a16:creationId xmlns:a16="http://schemas.microsoft.com/office/drawing/2014/main" id="{09BDCEA9-FCD8-BF3F-D744-F8CFFB64D0A4}"/>
              </a:ext>
            </a:extLst>
          </p:cNvPr>
          <p:cNvSpPr>
            <a:spLocks noGrp="1"/>
          </p:cNvSpPr>
          <p:nvPr>
            <p:ph type="pic" sz="quarter" idx="18"/>
          </p:nvPr>
        </p:nvSpPr>
        <p:spPr>
          <a:xfrm>
            <a:off x="5116740"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A5B05B6C-DEDB-7544-9F53-A4801D50D3DC}"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655269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01716"/>
            <a:ext cx="3214862" cy="1503373"/>
          </a:xfrm>
        </p:spPr>
        <p:txBody>
          <a:bodyPr anchor="t"/>
          <a:lstStyle/>
          <a:p>
            <a:r>
              <a:rPr lang="en-US"/>
              <a:t>Click to edit Master title style</a:t>
            </a:r>
            <a:endParaRPr lang="en-US" dirty="0"/>
          </a:p>
        </p:txBody>
      </p:sp>
      <p:sp>
        <p:nvSpPr>
          <p:cNvPr id="3" name="Rectangle 2">
            <a:extLst>
              <a:ext uri="{FF2B5EF4-FFF2-40B4-BE49-F238E27FC236}">
                <a16:creationId xmlns:a16="http://schemas.microsoft.com/office/drawing/2014/main" id="{2E9CDADF-7E36-EBE1-34D0-785EEE3139B3}"/>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04761C5D-E8A4-64AA-78FD-E268D115AC68}"/>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2877190"/>
            <a:ext cx="3214862" cy="3345810"/>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F67BC866-C4B3-4A49-A8DC-A0BE5C9E8ADF}"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684888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50032" y="5109526"/>
            <a:ext cx="3739896" cy="111347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7164" y="5109525"/>
            <a:ext cx="6400800" cy="1113475"/>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600"/>
            </a:lvl4pPr>
            <a:lvl5pPr marL="914400" indent="0">
              <a:buFont typeface="Arial" panose="020B0604020202020204" pitchFamily="34" charset="0"/>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50B7C8D-329B-1A41-996A-C00FEEB4F1BF}"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855149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7638" y="4362766"/>
            <a:ext cx="2953618" cy="1860234"/>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98176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362766"/>
            <a:ext cx="7576722" cy="186023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3493ED9-EFBD-5A47-956E-678E362C5636}"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55725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006411" cy="1861191"/>
          </a:xfr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B10367D4-204C-404A-8464-46B87B775F25}"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43897"/>
            <a:ext cx="7538412" cy="1861191"/>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2938227"/>
            <a:ext cx="12192000" cy="391977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3517198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45318" cy="970463"/>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1748474"/>
            <a:ext cx="6150815" cy="447452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1748475"/>
            <a:ext cx="4333867" cy="4474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B53CD41-8253-8740-8961-F06C3711FE73}"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88660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4714881" cy="1130429"/>
          </a:xfrm>
        </p:spPr>
        <p:txBody>
          <a:bodyP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146428"/>
            <a:ext cx="4736262" cy="4076572"/>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498" y="634999"/>
            <a:ext cx="5652466" cy="5588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D0C54A3-95B5-7540-93F4-9DA873291FAC}"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382138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8108" cy="111347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30" y="2129475"/>
            <a:ext cx="3752238" cy="4093525"/>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82195" y="634999"/>
            <a:ext cx="6595443" cy="5588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4EBD702-F775-114B-846E-EFE6911639ED}"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21069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a:extLst>
              <a:ext uri="{FF2B5EF4-FFF2-40B4-BE49-F238E27FC236}">
                <a16:creationId xmlns:a16="http://schemas.microsoft.com/office/drawing/2014/main" id="{65C0C886-859A-5158-F0E8-00B1BFC415AF}"/>
              </a:ext>
            </a:extLst>
          </p:cNvPr>
          <p:cNvSpPr/>
          <p:nvPr userDrawn="1"/>
        </p:nvSpPr>
        <p:spPr>
          <a:xfrm>
            <a:off x="5821686" y="0"/>
            <a:ext cx="5736284"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EDCEE0A2-7709-B62C-92B2-F79288C22CBB}"/>
              </a:ext>
            </a:extLst>
          </p:cNvPr>
          <p:cNvSpPr>
            <a:spLocks noGrp="1"/>
          </p:cNvSpPr>
          <p:nvPr>
            <p:ph type="pic" sz="quarter" idx="15"/>
          </p:nvPr>
        </p:nvSpPr>
        <p:spPr>
          <a:xfrm>
            <a:off x="67558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077356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D9EE1F0A-D57B-4C33-44C2-D2BF9B19B487}"/>
              </a:ext>
            </a:extLst>
          </p:cNvPr>
          <p:cNvSpPr/>
          <p:nvPr userDrawn="1"/>
        </p:nvSpPr>
        <p:spPr>
          <a:xfrm>
            <a:off x="5821681" y="0"/>
            <a:ext cx="5736284" cy="681812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Picture Placeholder 61">
            <a:extLst>
              <a:ext uri="{FF2B5EF4-FFF2-40B4-BE49-F238E27FC236}">
                <a16:creationId xmlns:a16="http://schemas.microsoft.com/office/drawing/2014/main" id="{FB73C4F7-F062-427F-E6F1-8992FE31EDC8}"/>
              </a:ext>
            </a:extLst>
          </p:cNvPr>
          <p:cNvSpPr>
            <a:spLocks noGrp="1"/>
          </p:cNvSpPr>
          <p:nvPr>
            <p:ph type="pic" sz="quarter" idx="15"/>
          </p:nvPr>
        </p:nvSpPr>
        <p:spPr>
          <a:xfrm>
            <a:off x="6325161"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075327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24" y="4800600"/>
            <a:ext cx="10923934" cy="1422400"/>
          </a:xfrm>
        </p:spPr>
        <p:txBody>
          <a:bodyPr anchor="b">
            <a:noAutofit/>
          </a:bodyPr>
          <a:lstStyle>
            <a:lvl1pPr>
              <a:lnSpc>
                <a:spcPct val="90000"/>
              </a:lnSpc>
              <a:defRPr sz="3600" b="1" i="0">
                <a:solidFill>
                  <a:schemeClr val="accent2"/>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8"/>
            <a:ext cx="10923934" cy="4609355"/>
          </a:xfrm>
        </p:spPr>
        <p:txBody>
          <a:bodyPr anchor="b">
            <a:noAutofit/>
          </a:bodyPr>
          <a:lstStyle>
            <a:lvl1pPr marL="0" indent="0">
              <a:lnSpc>
                <a:spcPct val="90000"/>
              </a:lnSpc>
              <a:spcBef>
                <a:spcPts val="0"/>
              </a:spcBef>
              <a:buNone/>
              <a:defRPr sz="30000" b="1" i="0">
                <a:solidFill>
                  <a:schemeClr val="accent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EA9CBBDB-DB6A-8043-A23A-E4D514668CA9}" type="datetime1">
              <a:rPr lang="en-US" smtClean="0"/>
              <a:t>5/4/2026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925638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577006" y="5222240"/>
            <a:ext cx="9037984" cy="1000759"/>
          </a:xfrm>
        </p:spPr>
        <p:txBody>
          <a:bodyPr anchor="b">
            <a:normAutofit/>
          </a:bodyPr>
          <a:lstStyle>
            <a:lvl1pPr algn="ctr">
              <a:lnSpc>
                <a:spcPct val="90000"/>
              </a:lnSpc>
              <a:defRPr sz="3600" b="1" i="0">
                <a:solidFill>
                  <a:schemeClr val="accent2"/>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8"/>
            <a:ext cx="10923934" cy="4587243"/>
          </a:xfrm>
        </p:spPr>
        <p:txBody>
          <a:bodyPr anchor="b">
            <a:normAutofit/>
          </a:bodyPr>
          <a:lstStyle>
            <a:lvl1pPr marL="0" indent="0" algn="ctr">
              <a:lnSpc>
                <a:spcPct val="90000"/>
              </a:lnSpc>
              <a:buNone/>
              <a:defRPr sz="30000" b="1" i="0">
                <a:solidFill>
                  <a:schemeClr val="accent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9CA8FF74-D6A8-484C-8E59-ED45708650B1}" type="datetime1">
              <a:rPr lang="en-US" smtClean="0"/>
              <a:t>5/4/2026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7416863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01611EA6-A98E-788D-8561-0477483FAA03}"/>
              </a:ext>
            </a:extLst>
          </p:cNvPr>
          <p:cNvSpPr>
            <a:spLocks noGrp="1"/>
          </p:cNvSpPr>
          <p:nvPr>
            <p:ph type="title"/>
          </p:nvPr>
        </p:nvSpPr>
        <p:spPr>
          <a:xfrm>
            <a:off x="634024" y="4879524"/>
            <a:ext cx="10923934" cy="1343475"/>
          </a:xfrm>
        </p:spPr>
        <p:txBody>
          <a:bodyPr anchor="b">
            <a:noAutofit/>
          </a:bodyPr>
          <a:lstStyle>
            <a:lvl1pPr>
              <a:lnSpc>
                <a:spcPct val="90000"/>
              </a:lnSpc>
              <a:defRPr sz="3600" b="1" i="0">
                <a:solidFill>
                  <a:schemeClr val="accent1"/>
                </a:solidFill>
                <a:latin typeface="+mj-lt"/>
              </a:defRPr>
            </a:lvl1pPr>
          </a:lstStyle>
          <a:p>
            <a:r>
              <a:rPr lang="en-US"/>
              <a:t>Click to edit Master title style</a:t>
            </a:r>
            <a:endParaRPr lang="en-US" dirty="0"/>
          </a:p>
        </p:txBody>
      </p:sp>
      <p:sp>
        <p:nvSpPr>
          <p:cNvPr id="29" name="Content Placeholder 6">
            <a:extLst>
              <a:ext uri="{FF2B5EF4-FFF2-40B4-BE49-F238E27FC236}">
                <a16:creationId xmlns:a16="http://schemas.microsoft.com/office/drawing/2014/main" id="{6FAFFBC2-CB22-180D-9985-6B9E32EE7539}"/>
              </a:ext>
            </a:extLst>
          </p:cNvPr>
          <p:cNvSpPr>
            <a:spLocks noGrp="1"/>
          </p:cNvSpPr>
          <p:nvPr>
            <p:ph sz="quarter" idx="13" hasCustomPrompt="1"/>
          </p:nvPr>
        </p:nvSpPr>
        <p:spPr>
          <a:xfrm>
            <a:off x="634030" y="634998"/>
            <a:ext cx="10923934" cy="4244527"/>
          </a:xfrm>
        </p:spPr>
        <p:txBody>
          <a:bodyPr anchor="b">
            <a:noAutofit/>
          </a:bodyPr>
          <a:lstStyle>
            <a:lvl1pPr marL="0" indent="0">
              <a:lnSpc>
                <a:spcPct val="90000"/>
              </a:lnSpc>
              <a:spcBef>
                <a:spcPts val="0"/>
              </a:spcBef>
              <a:buNone/>
              <a:defRPr sz="30000" b="1" i="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5D88237-8CC6-BF45-96C4-CF90C4DB2128}" type="datetime1">
              <a:rPr lang="en-US" smtClean="0"/>
              <a:t>5/4/2026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6439401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0936"/>
            <a:ext cx="6209065" cy="5605272"/>
          </a:xfrm>
        </p:spPr>
        <p:txBody>
          <a:bodyPr anchor="t">
            <a:noAutofit/>
          </a:bodyPr>
          <a:lstStyle>
            <a:lvl1pPr marL="0" indent="0">
              <a:lnSpc>
                <a:spcPct val="100000"/>
              </a:lnSpc>
              <a:buNone/>
              <a:defRPr sz="3600" b="1" i="0">
                <a:latin typeface="+mj-lt"/>
              </a:defRPr>
            </a:lvl1pPr>
            <a:lvl2pPr marL="228600" indent="0">
              <a:lnSpc>
                <a:spcPct val="100000"/>
              </a:lnSpc>
              <a:buNone/>
              <a:defRPr sz="3600" b="1" i="0">
                <a:latin typeface="+mj-lt"/>
              </a:defRPr>
            </a:lvl2pPr>
            <a:lvl3pPr marL="457200" indent="0">
              <a:lnSpc>
                <a:spcPct val="100000"/>
              </a:lnSpc>
              <a:buNone/>
              <a:defRPr sz="3600" b="1" i="0">
                <a:latin typeface="+mj-lt"/>
              </a:defRPr>
            </a:lvl3pPr>
            <a:lvl4pPr marL="685800" indent="0">
              <a:lnSpc>
                <a:spcPct val="100000"/>
              </a:lnSpc>
              <a:buNone/>
              <a:defRPr sz="3600" b="1" i="0">
                <a:latin typeface="+mj-lt"/>
              </a:defRPr>
            </a:lvl4pPr>
            <a:lvl5pPr marL="914400" indent="0">
              <a:lnSpc>
                <a:spcPct val="100000"/>
              </a:lnSpc>
              <a:buNone/>
              <a:defRPr sz="3600" b="1"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60AFA9F-5F67-2743-BC9C-9DCD4B6649F8}" type="datetime1">
              <a:rPr lang="en-US" smtClean="0"/>
              <a:t>5/4/2026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261770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634998"/>
            <a:ext cx="8481395" cy="5588002"/>
          </a:xfrm>
        </p:spPr>
        <p:txBody>
          <a:bodyPr anchor="t">
            <a:noAutofit/>
          </a:bodyPr>
          <a:lstStyle>
            <a:lvl1pPr marL="0" indent="0">
              <a:lnSpc>
                <a:spcPct val="100000"/>
              </a:lnSpc>
              <a:buNone/>
              <a:defRPr sz="3600" b="1" i="0">
                <a:latin typeface="+mj-lt"/>
              </a:defRPr>
            </a:lvl1pPr>
            <a:lvl2pPr marL="228600" indent="0">
              <a:lnSpc>
                <a:spcPct val="100000"/>
              </a:lnSpc>
              <a:buNone/>
              <a:defRPr sz="3600" b="1" i="0">
                <a:latin typeface="+mj-lt"/>
              </a:defRPr>
            </a:lvl2pPr>
            <a:lvl3pPr marL="457200" indent="0">
              <a:lnSpc>
                <a:spcPct val="100000"/>
              </a:lnSpc>
              <a:buNone/>
              <a:defRPr sz="3600" b="1" i="0">
                <a:latin typeface="+mj-lt"/>
              </a:defRPr>
            </a:lvl3pPr>
            <a:lvl4pPr marL="685800" indent="0">
              <a:lnSpc>
                <a:spcPct val="100000"/>
              </a:lnSpc>
              <a:buNone/>
              <a:defRPr sz="3600" b="1" i="0">
                <a:latin typeface="+mj-lt"/>
              </a:defRPr>
            </a:lvl4pPr>
            <a:lvl5pPr marL="914400" indent="0">
              <a:lnSpc>
                <a:spcPct val="100000"/>
              </a:lnSpc>
              <a:buNone/>
              <a:defRPr sz="3600" b="1"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EBDF3B-3FFA-684A-A22D-4B1A741ADF37}" type="datetime1">
              <a:rPr lang="en-US" smtClean="0"/>
              <a:t>5/4/2026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1501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34999"/>
            <a:ext cx="10923934" cy="375615"/>
          </a:xfrm>
        </p:spPr>
        <p:txBody>
          <a:bodyPr anchor="t">
            <a:noAutofit/>
          </a:bodyPr>
          <a:lstStyle>
            <a:lvl1pPr>
              <a:lnSpc>
                <a:spcPct val="120000"/>
              </a:lnSpc>
              <a:defRPr sz="1800" b="1" i="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748474"/>
            <a:ext cx="10923934" cy="4474526"/>
          </a:xfrm>
        </p:spPr>
        <p:txBody>
          <a:bodyPr anchor="b">
            <a:normAutofit/>
          </a:bodyPr>
          <a:lstStyle>
            <a:lvl1pPr marL="0" indent="0">
              <a:lnSpc>
                <a:spcPct val="90000"/>
              </a:lnSpc>
              <a:spcBef>
                <a:spcPts val="0"/>
              </a:spcBef>
              <a:buNone/>
              <a:defRPr sz="3600" b="1" i="0">
                <a:solidFill>
                  <a:schemeClr val="accent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33EAEBE-CA61-5040-850D-8DDBD3B263E9}" type="datetime1">
              <a:rPr lang="en-US" smtClean="0"/>
              <a:t>5/4/2026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45907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5856284"/>
            <a:ext cx="10923934" cy="366716"/>
          </a:xfrm>
        </p:spPr>
        <p:txBody>
          <a:bodyPr anchor="t">
            <a:noAutofit/>
          </a:bodyPr>
          <a:lstStyle>
            <a:lvl1pPr>
              <a:lnSpc>
                <a:spcPct val="120000"/>
              </a:lnSpc>
              <a:defRPr sz="1800" b="1" i="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042415"/>
            <a:ext cx="10923934" cy="4432870"/>
          </a:xfrm>
        </p:spPr>
        <p:txBody>
          <a:bodyPr anchor="t">
            <a:normAutofit/>
          </a:bodyPr>
          <a:lstStyle>
            <a:lvl1pPr marL="164592" indent="-164592">
              <a:lnSpc>
                <a:spcPct val="100000"/>
              </a:lnSpc>
              <a:spcBef>
                <a:spcPts val="0"/>
              </a:spcBef>
              <a:buNone/>
              <a:defRPr sz="3600" b="1" i="0">
                <a:solidFill>
                  <a:schemeClr val="accent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AF4E7F1-F91F-AD4F-AC91-E9089FFC5F81}" type="datetime1">
              <a:rPr lang="en-US" smtClean="0"/>
              <a:t>5/4/2026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1682928"/>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5856284"/>
            <a:ext cx="9037984" cy="366716"/>
          </a:xfrm>
        </p:spPr>
        <p:txBody>
          <a:bodyPr anchor="ctr">
            <a:noAutofit/>
          </a:bodyPr>
          <a:lstStyle>
            <a:lvl1pPr>
              <a:lnSpc>
                <a:spcPct val="120000"/>
              </a:lnSpc>
              <a:defRPr sz="1800" b="1" i="0">
                <a:solidFill>
                  <a:schemeClr val="accent2"/>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001715"/>
            <a:ext cx="9037984" cy="3726811"/>
          </a:xfrm>
        </p:spPr>
        <p:txBody>
          <a:bodyPr anchor="b">
            <a:normAutofit/>
          </a:bodyPr>
          <a:lstStyle>
            <a:lvl1pPr marL="164592" indent="-164592">
              <a:lnSpc>
                <a:spcPct val="100000"/>
              </a:lnSpc>
              <a:spcBef>
                <a:spcPts val="0"/>
              </a:spcBef>
              <a:buNone/>
              <a:defRPr sz="3600" b="1" i="0">
                <a:solidFill>
                  <a:schemeClr val="accent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293B5A0-0FC4-284F-8762-E74EE3523890}" type="datetime1">
              <a:rPr lang="en-US" smtClean="0"/>
              <a:t>5/4/2026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491712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010613"/>
            <a:ext cx="10945316" cy="746761"/>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30" y="2138374"/>
            <a:ext cx="5266090"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91886" y="2138374"/>
            <a:ext cx="5266078"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F1578D-94A7-9E43-82B8-AAFA272825E2}" type="datetime1">
              <a:rPr lang="en-US" smtClean="0"/>
              <a:t>5/4/2026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44776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1042831"/>
            <a:ext cx="10923934" cy="74676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2051211"/>
            <a:ext cx="5266090" cy="381959"/>
          </a:xfrm>
        </p:spPr>
        <p:txBody>
          <a:bodyPr anchor="t">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30" y="2495234"/>
            <a:ext cx="5266090"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91886" y="2051212"/>
            <a:ext cx="5266078" cy="381958"/>
          </a:xfrm>
        </p:spPr>
        <p:txBody>
          <a:bodyPr anchor="t">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495234"/>
            <a:ext cx="5271464"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A9E3611-F589-6B46-B56A-435CF60591D4}" type="datetime1">
              <a:rPr lang="en-US" smtClean="0"/>
              <a:t>5/4/2026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Growth marketing plan</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064363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E4692AA-1C89-D34D-9E81-E1A863B5BE18}" type="datetime1">
              <a:rPr lang="en-US" smtClean="0"/>
              <a:t>5/4/2026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721115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BD42A457-1E7D-C84D-ACA4-D60564856941}" type="datetime1">
              <a:rPr lang="en-US" smtClean="0"/>
              <a:t>5/4/2026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Growth marketing plan</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853391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7" y="634999"/>
            <a:ext cx="3771903" cy="1494476"/>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30" y="2495234"/>
            <a:ext cx="3771904" cy="37277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348910" y="634999"/>
            <a:ext cx="6226055" cy="558800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CC971255-8A2A-504E-AE57-51186F2E75A8}" type="datetime1">
              <a:rPr lang="en-US" smtClean="0"/>
              <a:t>5/4/2026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829001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34029" y="634999"/>
            <a:ext cx="3793283" cy="1870090"/>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9" y="2886089"/>
            <a:ext cx="3771901" cy="333691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3" y="634999"/>
            <a:ext cx="6595442" cy="562577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3590A0A-7008-8A4A-B23F-5951DF641DB9}" type="datetime1">
              <a:rPr lang="en-US" smtClean="0"/>
              <a:t>5/4/2026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690251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847087"/>
            <a:ext cx="7538424" cy="1386963"/>
          </a:xfrm>
        </p:spPr>
        <p:txBody>
          <a:bodyPr anchor="b">
            <a:no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30" y="3615051"/>
            <a:ext cx="10923933" cy="2607949"/>
          </a:xfrm>
        </p:spPr>
        <p:txBody>
          <a:bodyPr/>
          <a:lstStyle>
            <a:lvl1pPr marL="0" indent="0">
              <a:buNone/>
              <a:defRPr>
                <a:solidFill>
                  <a:schemeClr val="accent1"/>
                </a:solidFill>
              </a:defRPr>
            </a:lvl1pPr>
            <a:lvl2pPr marL="228600" indent="0">
              <a:buNone/>
              <a:defRPr>
                <a:solidFill>
                  <a:schemeClr val="accent1"/>
                </a:solidFill>
              </a:defRPr>
            </a:lvl2pPr>
            <a:lvl3pPr marL="457200" indent="0">
              <a:buNone/>
              <a:defRPr>
                <a:solidFill>
                  <a:schemeClr val="accent1"/>
                </a:solidFill>
              </a:defRPr>
            </a:lvl3pPr>
            <a:lvl4pPr marL="685800" indent="0">
              <a:buNone/>
              <a:defRPr>
                <a:solidFill>
                  <a:schemeClr val="accent1"/>
                </a:solidFill>
              </a:defRPr>
            </a:lvl4pPr>
            <a:lvl5pPr marL="914400" indent="0">
              <a:buNone/>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131EFE-56B6-8F4D-8113-558CEDB7B73A}"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760245"/>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73816"/>
            <a:ext cx="8481399" cy="1867858"/>
          </a:xfrm>
        </p:spPr>
        <p:txBody>
          <a:bodyPr anchor="b">
            <a:no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3622674"/>
            <a:ext cx="8481399" cy="1486852"/>
          </a:xfrm>
        </p:spPr>
        <p:txBody>
          <a:bodyPr>
            <a:noAutofit/>
          </a:bodyPr>
          <a:lstStyle>
            <a:lvl1pPr marL="0" indent="0">
              <a:buNone/>
              <a:defRPr sz="2400">
                <a:solidFill>
                  <a:schemeClr val="accent1"/>
                </a:solidFill>
              </a:defRPr>
            </a:lvl1pPr>
            <a:lvl2pPr marL="228600" indent="0">
              <a:buNone/>
              <a:defRPr sz="2000">
                <a:solidFill>
                  <a:schemeClr val="accent1"/>
                </a:solidFill>
              </a:defRPr>
            </a:lvl2pPr>
            <a:lvl3pPr marL="457200" indent="0">
              <a:buNone/>
              <a:defRPr sz="1800">
                <a:solidFill>
                  <a:schemeClr val="accent1"/>
                </a:solidFill>
              </a:defRPr>
            </a:lvl3pPr>
            <a:lvl4pPr marL="685800" indent="0">
              <a:buNone/>
              <a:defRPr sz="1600">
                <a:solidFill>
                  <a:schemeClr val="accent1"/>
                </a:solidFill>
              </a:defRPr>
            </a:lvl4pPr>
            <a:lvl5pPr marL="914400" indent="0">
              <a:buNone/>
              <a:defRPr sz="14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914D02D-3DC0-C54F-AF94-CB2AA6AB0D37}" type="datetime1">
              <a:rPr lang="en-US" smtClean="0"/>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4614572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73816"/>
            <a:ext cx="4704473" cy="2607950"/>
          </a:xfrm>
        </p:spPr>
        <p:txBody>
          <a:bodyPr anchor="b">
            <a:noAutofit/>
          </a:bodyPr>
          <a:lstStyle>
            <a:lvl1pPr>
              <a:defRPr sz="3600">
                <a:solidFill>
                  <a:schemeClr val="accent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4362766"/>
            <a:ext cx="4704473" cy="1860234"/>
          </a:xfrm>
        </p:spPr>
        <p:txBody>
          <a:bodyPr>
            <a:noAutofit/>
          </a:bodyPr>
          <a:lstStyle>
            <a:lvl1pPr marL="0" indent="0">
              <a:buNone/>
              <a:defRPr sz="1800" b="1" i="0">
                <a:solidFill>
                  <a:schemeClr val="accent2"/>
                </a:solidFill>
                <a:latin typeface="+mn-lt"/>
              </a:defRPr>
            </a:lvl1pPr>
            <a:lvl2pPr marL="228600" indent="0">
              <a:buNone/>
              <a:defRPr sz="1800" b="1" i="0">
                <a:solidFill>
                  <a:schemeClr val="accent2"/>
                </a:solidFill>
                <a:latin typeface="+mn-lt"/>
              </a:defRPr>
            </a:lvl2pPr>
            <a:lvl3pPr marL="457200" indent="0">
              <a:buNone/>
              <a:defRPr sz="1800" b="1" i="0">
                <a:solidFill>
                  <a:schemeClr val="accent2"/>
                </a:solidFill>
                <a:latin typeface="+mn-lt"/>
              </a:defRPr>
            </a:lvl3pPr>
            <a:lvl4pPr marL="685800" indent="0">
              <a:buNone/>
              <a:defRPr sz="1800" b="1" i="0">
                <a:solidFill>
                  <a:schemeClr val="accent2"/>
                </a:solidFill>
                <a:latin typeface="+mn-lt"/>
              </a:defRPr>
            </a:lvl4pPr>
            <a:lvl5pPr marL="914400" indent="0">
              <a:buNone/>
              <a:defRPr sz="1800" b="1" i="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6914D02D-3DC0-C54F-AF94-CB2AA6AB0D37}" type="datetime1">
              <a:rPr lang="en-US" smtClean="0"/>
              <a:pPr/>
              <a:t>5/4/2026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Freeform 2">
            <a:extLst>
              <a:ext uri="{FF2B5EF4-FFF2-40B4-BE49-F238E27FC236}">
                <a16:creationId xmlns:a16="http://schemas.microsoft.com/office/drawing/2014/main" id="{FE1A7A48-EC1B-2BD5-026A-AEDC4C01FC96}"/>
              </a:ext>
            </a:extLst>
          </p:cNvPr>
          <p:cNvSpPr/>
          <p:nvPr userDrawn="1"/>
        </p:nvSpPr>
        <p:spPr>
          <a:xfrm>
            <a:off x="5821681" y="1"/>
            <a:ext cx="6370318" cy="6223000"/>
          </a:xfrm>
          <a:custGeom>
            <a:avLst/>
            <a:gdLst>
              <a:gd name="connsiteX0" fmla="*/ 3185158 w 6370318"/>
              <a:gd name="connsiteY0" fmla="*/ 991383 h 6223000"/>
              <a:gd name="connsiteX1" fmla="*/ 974138 w 6370318"/>
              <a:gd name="connsiteY1" fmla="*/ 2448125 h 6223000"/>
              <a:gd name="connsiteX2" fmla="*/ 3185158 w 6370318"/>
              <a:gd name="connsiteY2" fmla="*/ 3904867 h 6223000"/>
              <a:gd name="connsiteX3" fmla="*/ 5396178 w 6370318"/>
              <a:gd name="connsiteY3" fmla="*/ 2448125 h 6223000"/>
              <a:gd name="connsiteX4" fmla="*/ 3185158 w 6370318"/>
              <a:gd name="connsiteY4" fmla="*/ 991383 h 6223000"/>
              <a:gd name="connsiteX5" fmla="*/ 0 w 6370318"/>
              <a:gd name="connsiteY5" fmla="*/ 0 h 6223000"/>
              <a:gd name="connsiteX6" fmla="*/ 6370318 w 6370318"/>
              <a:gd name="connsiteY6" fmla="*/ 0 h 6223000"/>
              <a:gd name="connsiteX7" fmla="*/ 6370318 w 6370318"/>
              <a:gd name="connsiteY7" fmla="*/ 6223000 h 6223000"/>
              <a:gd name="connsiteX8" fmla="*/ 5395766 w 6370318"/>
              <a:gd name="connsiteY8" fmla="*/ 6223000 h 6223000"/>
              <a:gd name="connsiteX9" fmla="*/ 5384828 w 6370318"/>
              <a:gd name="connsiteY9" fmla="*/ 6176026 h 6223000"/>
              <a:gd name="connsiteX10" fmla="*/ 3195791 w 6370318"/>
              <a:gd name="connsiteY10" fmla="*/ 5746683 h 6223000"/>
              <a:gd name="connsiteX11" fmla="*/ 5396178 w 6370318"/>
              <a:gd name="connsiteY11" fmla="*/ 4825797 h 6223000"/>
              <a:gd name="connsiteX12" fmla="*/ 3185158 w 6370318"/>
              <a:gd name="connsiteY12" fmla="*/ 3904906 h 6223000"/>
              <a:gd name="connsiteX13" fmla="*/ 974138 w 6370318"/>
              <a:gd name="connsiteY13" fmla="*/ 4825797 h 6223000"/>
              <a:gd name="connsiteX14" fmla="*/ 3174524 w 6370318"/>
              <a:gd name="connsiteY14" fmla="*/ 5746683 h 6223000"/>
              <a:gd name="connsiteX15" fmla="*/ 985488 w 6370318"/>
              <a:gd name="connsiteY15" fmla="*/ 6176026 h 6223000"/>
              <a:gd name="connsiteX16" fmla="*/ 974550 w 6370318"/>
              <a:gd name="connsiteY16" fmla="*/ 6223000 h 6223000"/>
              <a:gd name="connsiteX17" fmla="*/ 0 w 6370318"/>
              <a:gd name="connsiteY17" fmla="*/ 6223000 h 622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0318" h="6223000">
                <a:moveTo>
                  <a:pt x="3185158" y="991383"/>
                </a:moveTo>
                <a:cubicBezTo>
                  <a:pt x="1964046" y="991383"/>
                  <a:pt x="974138" y="1643590"/>
                  <a:pt x="974138" y="2448125"/>
                </a:cubicBezTo>
                <a:cubicBezTo>
                  <a:pt x="974138" y="3252659"/>
                  <a:pt x="1964046" y="3904867"/>
                  <a:pt x="3185158" y="3904867"/>
                </a:cubicBezTo>
                <a:cubicBezTo>
                  <a:pt x="4406270" y="3904867"/>
                  <a:pt x="5396178" y="3252659"/>
                  <a:pt x="5396178" y="2448125"/>
                </a:cubicBezTo>
                <a:cubicBezTo>
                  <a:pt x="5396178" y="1643590"/>
                  <a:pt x="4406270" y="991383"/>
                  <a:pt x="3185158" y="991383"/>
                </a:cubicBezTo>
                <a:close/>
                <a:moveTo>
                  <a:pt x="0" y="0"/>
                </a:moveTo>
                <a:lnTo>
                  <a:pt x="6370318" y="0"/>
                </a:lnTo>
                <a:lnTo>
                  <a:pt x="6370318" y="6223000"/>
                </a:lnTo>
                <a:lnTo>
                  <a:pt x="5395766" y="6223000"/>
                </a:lnTo>
                <a:lnTo>
                  <a:pt x="5384828" y="6176026"/>
                </a:lnTo>
                <a:cubicBezTo>
                  <a:pt x="5272251" y="5935624"/>
                  <a:pt x="4336001" y="5747839"/>
                  <a:pt x="3195791" y="5746683"/>
                </a:cubicBezTo>
                <a:cubicBezTo>
                  <a:pt x="4412015" y="5744294"/>
                  <a:pt x="5396178" y="5332915"/>
                  <a:pt x="5396178" y="4825797"/>
                </a:cubicBezTo>
                <a:cubicBezTo>
                  <a:pt x="5396178" y="4317207"/>
                  <a:pt x="4406270" y="3904906"/>
                  <a:pt x="3185158" y="3904906"/>
                </a:cubicBezTo>
                <a:cubicBezTo>
                  <a:pt x="1964046" y="3904906"/>
                  <a:pt x="974138" y="4317207"/>
                  <a:pt x="974138" y="4825797"/>
                </a:cubicBezTo>
                <a:cubicBezTo>
                  <a:pt x="974138" y="5332915"/>
                  <a:pt x="1958301" y="5744294"/>
                  <a:pt x="3174524" y="5746683"/>
                </a:cubicBezTo>
                <a:cubicBezTo>
                  <a:pt x="2034315" y="5747839"/>
                  <a:pt x="1098065" y="5935624"/>
                  <a:pt x="985488" y="6176026"/>
                </a:cubicBezTo>
                <a:lnTo>
                  <a:pt x="974550" y="6223000"/>
                </a:lnTo>
                <a:lnTo>
                  <a:pt x="0" y="622300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09274275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3" y="635000"/>
            <a:ext cx="10923934" cy="74676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30" y="1748474"/>
            <a:ext cx="10923934" cy="44745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latin typeface="+mn-lt"/>
              </a:defRPr>
            </a:lvl1pPr>
          </a:lstStyle>
          <a:p>
            <a:fld id="{6A0A5BC3-F280-874C-BA55-1A6C5B1523D3}" type="datetime1">
              <a:rPr lang="en-US" smtClean="0"/>
              <a:pPr/>
              <a:t>5/4/2026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latin typeface="+mn-lt"/>
              </a:defRPr>
            </a:lvl1pPr>
          </a:lstStyle>
          <a:p>
            <a:r>
              <a:rPr lang="en-US" dirty="0"/>
              <a:t>Growth marketing plan</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latin typeface="+mn-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0187895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813" r:id="rId8"/>
    <p:sldLayoutId id="2147483771" r:id="rId9"/>
    <p:sldLayoutId id="2147483816" r:id="rId10"/>
    <p:sldLayoutId id="2147483772" r:id="rId11"/>
    <p:sldLayoutId id="2147483773" r:id="rId12"/>
    <p:sldLayoutId id="2147483814"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815" r:id="rId36"/>
    <p:sldLayoutId id="2147483818" r:id="rId37"/>
    <p:sldLayoutId id="2147483796" r:id="rId38"/>
    <p:sldLayoutId id="2147483797" r:id="rId39"/>
    <p:sldLayoutId id="2147483798" r:id="rId40"/>
    <p:sldLayoutId id="2147483799" r:id="rId41"/>
    <p:sldLayoutId id="2147483801" r:id="rId42"/>
    <p:sldLayoutId id="2147483802" r:id="rId43"/>
    <p:sldLayoutId id="2147483803" r:id="rId44"/>
    <p:sldLayoutId id="2147483804" r:id="rId45"/>
    <p:sldLayoutId id="2147483805" r:id="rId46"/>
    <p:sldLayoutId id="2147483806" r:id="rId47"/>
    <p:sldLayoutId id="2147483807" r:id="rId48"/>
    <p:sldLayoutId id="2147483808" r:id="rId49"/>
    <p:sldLayoutId id="2147483809" r:id="rId50"/>
    <p:sldLayoutId id="2147483810" r:id="rId51"/>
    <p:sldLayoutId id="2147483811" r:id="rId52"/>
    <p:sldLayoutId id="2147483812" r:id="rId53"/>
    <p:sldLayoutId id="2147483817" r:id="rId54"/>
  </p:sldLayoutIdLst>
  <p:hf sldNum="0" hdr="0" ftr="0" dt="0"/>
  <p:txStyles>
    <p:titleStyle>
      <a:lvl1pPr algn="l" defTabSz="914400" rtl="0" eaLnBrk="1" latinLnBrk="0" hangingPunct="1">
        <a:lnSpc>
          <a:spcPct val="90000"/>
        </a:lnSpc>
        <a:spcBef>
          <a:spcPct val="0"/>
        </a:spcBef>
        <a:buNone/>
        <a:defRPr sz="3600" b="1" i="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b="0" i="0" kern="1200">
          <a:solidFill>
            <a:schemeClr val="accent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accent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accent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accent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hyperlink" Target="https://time.com/7345903/ai-chatgpt-claude-gemini-pokemon" TargetMode="Externa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PWhiddy/PokemonRedExperiments" TargetMode="Externa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658368" y="1381759"/>
            <a:ext cx="4690543" cy="4977581"/>
          </a:xfrm>
        </p:spPr>
        <p:txBody>
          <a:bodyPr/>
          <a:lstStyle/>
          <a:p>
            <a:r>
              <a:rPr lang="en-US" dirty="0" err="1"/>
              <a:t>Pokemon</a:t>
            </a:r>
            <a:r>
              <a:rPr lang="en-US" dirty="0"/>
              <a:t> Game Playing Agent</a:t>
            </a:r>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a:xfrm>
            <a:off x="658368" y="634999"/>
            <a:ext cx="4690543" cy="375615"/>
          </a:xfrm>
        </p:spPr>
        <p:txBody>
          <a:bodyPr/>
          <a:lstStyle/>
          <a:p>
            <a:r>
              <a:rPr lang="en-US" dirty="0"/>
              <a:t>Jodie Butterworth</a:t>
            </a:r>
          </a:p>
          <a:p>
            <a:r>
              <a:rPr lang="en-US" dirty="0"/>
              <a:t>CPT_S 440 Spring 2026</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6B45-59A7-C589-9ECA-BA4BE7D7D9F3}"/>
              </a:ext>
            </a:extLst>
          </p:cNvPr>
          <p:cNvSpPr>
            <a:spLocks noGrp="1"/>
          </p:cNvSpPr>
          <p:nvPr>
            <p:ph type="title"/>
          </p:nvPr>
        </p:nvSpPr>
        <p:spPr>
          <a:xfrm>
            <a:off x="634036" y="2495233"/>
            <a:ext cx="4714881" cy="2233293"/>
          </a:xfrm>
        </p:spPr>
        <p:txBody>
          <a:bodyPr/>
          <a:lstStyle/>
          <a:p>
            <a:r>
              <a:rPr lang="en-US" dirty="0"/>
              <a:t>Introduction</a:t>
            </a:r>
          </a:p>
        </p:txBody>
      </p:sp>
      <p:sp>
        <p:nvSpPr>
          <p:cNvPr id="5" name="Content Placeholder 4">
            <a:extLst>
              <a:ext uri="{FF2B5EF4-FFF2-40B4-BE49-F238E27FC236}">
                <a16:creationId xmlns:a16="http://schemas.microsoft.com/office/drawing/2014/main" id="{FBFE3E85-F977-4917-D2F3-E64C503441F1}"/>
              </a:ext>
            </a:extLst>
          </p:cNvPr>
          <p:cNvSpPr>
            <a:spLocks noGrp="1"/>
          </p:cNvSpPr>
          <p:nvPr>
            <p:ph sz="quarter" idx="13"/>
          </p:nvPr>
        </p:nvSpPr>
        <p:spPr>
          <a:xfrm>
            <a:off x="6286500" y="0"/>
            <a:ext cx="5271464" cy="6115665"/>
          </a:xfrm>
        </p:spPr>
        <p:txBody>
          <a:bodyPr/>
          <a:lstStyle/>
          <a:p>
            <a:r>
              <a:rPr lang="en-US" b="1" dirty="0"/>
              <a:t>Objective:</a:t>
            </a:r>
            <a:r>
              <a:rPr lang="en-US" dirty="0"/>
              <a:t> Modify the PPO </a:t>
            </a:r>
            <a:r>
              <a:rPr lang="en-US" dirty="0" err="1"/>
              <a:t>Pokemon</a:t>
            </a:r>
            <a:r>
              <a:rPr lang="en-US" dirty="0"/>
              <a:t> Red Game Playing Agent originally created by Whidden. [1]</a:t>
            </a:r>
          </a:p>
          <a:p>
            <a:r>
              <a:rPr lang="en-US" b="1" dirty="0"/>
              <a:t>Introduction:</a:t>
            </a:r>
          </a:p>
          <a:p>
            <a:r>
              <a:rPr lang="en-US" dirty="0"/>
              <a:t>Peter Whidden created a game playing agent for </a:t>
            </a:r>
            <a:r>
              <a:rPr lang="en-US" dirty="0" err="1"/>
              <a:t>Pokemon</a:t>
            </a:r>
            <a:r>
              <a:rPr lang="en-US" dirty="0"/>
              <a:t> Red several years ago. It has undergone multiple revisions by many volunteers since he has shared his work. [1]</a:t>
            </a:r>
          </a:p>
          <a:p>
            <a:r>
              <a:rPr lang="en-US" dirty="0"/>
              <a:t>The program uses reinforcement learning to train the AI. [1] I have altered the rewards and punishments to encourage longer directional walks, less random movement, obtaining items, catching </a:t>
            </a:r>
            <a:r>
              <a:rPr lang="en-US" dirty="0" err="1"/>
              <a:t>pokemon</a:t>
            </a:r>
            <a:r>
              <a:rPr lang="en-US" dirty="0"/>
              <a:t>, getting HMs, obtaining badges, progressing to new areas quickly, avoiding fainting, avoiding prolonged time in the menu, avoiding prolonged time on any one map, rewarding effective combat moves, plus all the previous rewards like exploration and healing.</a:t>
            </a:r>
          </a:p>
        </p:txBody>
      </p:sp>
    </p:spTree>
    <p:extLst>
      <p:ext uri="{BB962C8B-B14F-4D97-AF65-F5344CB8AC3E}">
        <p14:creationId xmlns:p14="http://schemas.microsoft.com/office/powerpoint/2010/main" val="1566291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32F8-E21D-68DC-2A6B-6A44F01175C0}"/>
              </a:ext>
            </a:extLst>
          </p:cNvPr>
          <p:cNvSpPr>
            <a:spLocks noGrp="1"/>
          </p:cNvSpPr>
          <p:nvPr>
            <p:ph type="title"/>
          </p:nvPr>
        </p:nvSpPr>
        <p:spPr>
          <a:xfrm>
            <a:off x="612648" y="1010613"/>
            <a:ext cx="10945316" cy="746761"/>
          </a:xfrm>
        </p:spPr>
        <p:txBody>
          <a:bodyPr/>
          <a:lstStyle/>
          <a:p>
            <a:r>
              <a:rPr lang="en-US" dirty="0"/>
              <a:t>Problem Statement:</a:t>
            </a:r>
          </a:p>
        </p:txBody>
      </p:sp>
      <p:sp>
        <p:nvSpPr>
          <p:cNvPr id="3" name="Text Placeholder 2">
            <a:extLst>
              <a:ext uri="{FF2B5EF4-FFF2-40B4-BE49-F238E27FC236}">
                <a16:creationId xmlns:a16="http://schemas.microsoft.com/office/drawing/2014/main" id="{E435B5EE-EC32-8941-B9F3-74604A298061}"/>
              </a:ext>
            </a:extLst>
          </p:cNvPr>
          <p:cNvSpPr>
            <a:spLocks noGrp="1"/>
          </p:cNvSpPr>
          <p:nvPr>
            <p:ph type="body" sz="quarter" idx="13"/>
          </p:nvPr>
        </p:nvSpPr>
        <p:spPr>
          <a:xfrm>
            <a:off x="634030" y="2138374"/>
            <a:ext cx="5266090" cy="4084626"/>
          </a:xfrm>
        </p:spPr>
        <p:txBody>
          <a:bodyPr vert="horz" lIns="91440" tIns="45720" rIns="91440" bIns="45720" rtlCol="0" anchor="t">
            <a:normAutofit/>
          </a:bodyPr>
          <a:lstStyle/>
          <a:p>
            <a:pPr marL="0" indent="0">
              <a:buNone/>
            </a:pPr>
            <a:r>
              <a:rPr lang="en-US" dirty="0" err="1"/>
              <a:t>Pokemon</a:t>
            </a:r>
            <a:r>
              <a:rPr lang="en-US" dirty="0"/>
              <a:t> is a very difficult game for AI to master. [2] Multiple large commercial Ais have attempted to play the game, and all of them struggled to make progress. “Some AI systems still struggle to make meaningful progress in classic Pokémon games, often wandering aimlessly or getting stuck early on. For example,</a:t>
            </a:r>
            <a:r>
              <a:rPr lang="en-US" dirty="0">
                <a:solidFill>
                  <a:srgbClr val="C00000"/>
                </a:solidFill>
              </a:rPr>
              <a:t> </a:t>
            </a:r>
            <a:r>
              <a:rPr lang="en-US" dirty="0">
                <a:solidFill>
                  <a:srgbClr val="C00000"/>
                </a:solidFill>
                <a:hlinkClick r:id="rId2">
                  <a:extLst>
                    <a:ext uri="{A12FA001-AC4F-418D-AE19-62706E023703}">
                      <ahyp:hlinkClr xmlns:ahyp="http://schemas.microsoft.com/office/drawing/2018/hyperlinkcolor" val="tx"/>
                    </a:ext>
                  </a:extLst>
                </a:hlinkClick>
              </a:rPr>
              <a:t>Time </a:t>
            </a:r>
            <a:r>
              <a:rPr lang="en-US" dirty="0">
                <a:solidFill>
                  <a:srgbClr val="C00000"/>
                </a:solidFill>
              </a:rPr>
              <a:t>f</a:t>
            </a:r>
            <a:r>
              <a:rPr lang="en-US" dirty="0"/>
              <a:t>irst reported that earlier Claude models wandered without clear objectives and couldn’t get far beyond the first town of Pokémon Red, highlighting key weaknesses in long-term planning and execution.” [2]</a:t>
            </a:r>
          </a:p>
        </p:txBody>
      </p:sp>
      <p:sp>
        <p:nvSpPr>
          <p:cNvPr id="4" name="Text Placeholder 3">
            <a:extLst>
              <a:ext uri="{FF2B5EF4-FFF2-40B4-BE49-F238E27FC236}">
                <a16:creationId xmlns:a16="http://schemas.microsoft.com/office/drawing/2014/main" id="{085F83F2-AAC5-A5A2-512A-01B647657FF8}"/>
              </a:ext>
            </a:extLst>
          </p:cNvPr>
          <p:cNvSpPr>
            <a:spLocks noGrp="1"/>
          </p:cNvSpPr>
          <p:nvPr>
            <p:ph type="body" sz="quarter" idx="14"/>
          </p:nvPr>
        </p:nvSpPr>
        <p:spPr>
          <a:xfrm>
            <a:off x="6291886" y="2138374"/>
            <a:ext cx="5266078" cy="4084626"/>
          </a:xfrm>
        </p:spPr>
        <p:txBody>
          <a:bodyPr vert="horz" lIns="91440" tIns="45720" rIns="91440" bIns="45720" rtlCol="0" anchor="t">
            <a:normAutofit/>
          </a:bodyPr>
          <a:lstStyle/>
          <a:p>
            <a:pPr marL="0" indent="0">
              <a:buNone/>
            </a:pPr>
            <a:r>
              <a:rPr lang="en-US" dirty="0"/>
              <a:t>Whidden’s early version of the game made it past Mt. Moon, but it took many revisions to get to the town for the second gym. Better optimized paths and faster reinforcement learning training methods have been created since then.</a:t>
            </a:r>
          </a:p>
          <a:p>
            <a:pPr marL="0" indent="0">
              <a:buNone/>
            </a:pPr>
            <a:r>
              <a:rPr lang="en-US" dirty="0"/>
              <a:t>I have modified the original version with the goal of getting through Mt. Moon, a major obstacle for AI agents.</a:t>
            </a:r>
          </a:p>
        </p:txBody>
      </p:sp>
    </p:spTree>
    <p:extLst>
      <p:ext uri="{BB962C8B-B14F-4D97-AF65-F5344CB8AC3E}">
        <p14:creationId xmlns:p14="http://schemas.microsoft.com/office/powerpoint/2010/main" val="216873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B16D-2F4A-F938-64C3-F8B6808F5004}"/>
              </a:ext>
            </a:extLst>
          </p:cNvPr>
          <p:cNvSpPr>
            <a:spLocks noGrp="1"/>
          </p:cNvSpPr>
          <p:nvPr>
            <p:ph type="title"/>
          </p:nvPr>
        </p:nvSpPr>
        <p:spPr>
          <a:xfrm>
            <a:off x="657343" y="1001716"/>
            <a:ext cx="4543922" cy="755658"/>
          </a:xfrm>
        </p:spPr>
        <p:txBody>
          <a:bodyPr>
            <a:normAutofit fontScale="90000"/>
          </a:bodyPr>
          <a:lstStyle/>
          <a:p>
            <a:r>
              <a:rPr lang="en-US" dirty="0"/>
              <a:t>Project Implementation</a:t>
            </a:r>
          </a:p>
        </p:txBody>
      </p:sp>
      <p:sp>
        <p:nvSpPr>
          <p:cNvPr id="5" name="Content Placeholder 4">
            <a:extLst>
              <a:ext uri="{FF2B5EF4-FFF2-40B4-BE49-F238E27FC236}">
                <a16:creationId xmlns:a16="http://schemas.microsoft.com/office/drawing/2014/main" id="{6BCE1C32-E3BE-E820-0C0D-D82105EBFBD0}"/>
              </a:ext>
            </a:extLst>
          </p:cNvPr>
          <p:cNvSpPr>
            <a:spLocks noGrp="1"/>
          </p:cNvSpPr>
          <p:nvPr>
            <p:ph sz="quarter" idx="13"/>
          </p:nvPr>
        </p:nvSpPr>
        <p:spPr>
          <a:xfrm>
            <a:off x="657343" y="2138373"/>
            <a:ext cx="4331151" cy="4084627"/>
          </a:xfrm>
        </p:spPr>
        <p:txBody>
          <a:bodyPr>
            <a:normAutofit/>
          </a:bodyPr>
          <a:lstStyle/>
          <a:p>
            <a:pPr marL="0" indent="0">
              <a:buNone/>
            </a:pPr>
            <a:r>
              <a:rPr lang="en-US" b="1" dirty="0"/>
              <a:t>PPO with Reinforcement Learning</a:t>
            </a:r>
          </a:p>
          <a:p>
            <a:pPr marL="0" indent="0">
              <a:buNone/>
            </a:pPr>
            <a:r>
              <a:rPr lang="en-US" dirty="0"/>
              <a:t>I’m using the original python program and pipeline that Whidden created. [1]. I have modified the reward system in the .env, and I am using the original baseline to train the AI. Minimal changes were made to ensure compatibility with the old ex-register computer I am training on.</a:t>
            </a:r>
            <a:br>
              <a:rPr lang="en-US" dirty="0"/>
            </a:br>
            <a:br>
              <a:rPr lang="en-US" dirty="0"/>
            </a:br>
            <a:r>
              <a:rPr lang="en-US" b="1" dirty="0"/>
              <a:t>Challenges &amp; needs</a:t>
            </a:r>
          </a:p>
          <a:p>
            <a:pPr marL="0" indent="0">
              <a:buNone/>
            </a:pPr>
            <a:r>
              <a:rPr lang="en-US" dirty="0"/>
              <a:t>Python, </a:t>
            </a:r>
            <a:r>
              <a:rPr lang="en-US" dirty="0" err="1"/>
              <a:t>PyBoy</a:t>
            </a:r>
            <a:r>
              <a:rPr lang="en-US" dirty="0"/>
              <a:t> and a computer copy of </a:t>
            </a:r>
            <a:r>
              <a:rPr lang="en-US" dirty="0" err="1"/>
              <a:t>Pokemon</a:t>
            </a:r>
            <a:r>
              <a:rPr lang="en-US" dirty="0"/>
              <a:t> Red are needed. The computer had to be adjusted to handle the file size and get the pipeline to run.</a:t>
            </a:r>
          </a:p>
        </p:txBody>
      </p:sp>
      <p:pic>
        <p:nvPicPr>
          <p:cNvPr id="7" name="Picture Placeholder 6">
            <a:extLst>
              <a:ext uri="{FF2B5EF4-FFF2-40B4-BE49-F238E27FC236}">
                <a16:creationId xmlns:a16="http://schemas.microsoft.com/office/drawing/2014/main" id="{FE79F129-AB84-EC2B-9579-8BAC860F4F1E}"/>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4637" r="4637"/>
          <a:stretch>
            <a:fillRect/>
          </a:stretch>
        </p:blipFill>
        <p:spPr>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3" cstate="screen">
              <a:alphaModFix amt="60000"/>
              <a:extLst>
                <a:ext uri="{28A0092B-C50C-407E-A947-70E740481C1C}">
                  <a14:useLocalDpi xmlns:a14="http://schemas.microsoft.com/office/drawing/2010/main"/>
                </a:ext>
              </a:extLst>
            </a:blip>
            <a:srcRect/>
            <a:stretch>
              <a:fillRect/>
            </a:stretch>
          </a:blipFill>
          <a:ln>
            <a:noFill/>
          </a:ln>
        </p:spPr>
      </p:pic>
      <p:sp>
        <p:nvSpPr>
          <p:cNvPr id="8" name="TextBox 7">
            <a:extLst>
              <a:ext uri="{FF2B5EF4-FFF2-40B4-BE49-F238E27FC236}">
                <a16:creationId xmlns:a16="http://schemas.microsoft.com/office/drawing/2014/main" id="{C8061242-C19D-E141-E0E5-391AAD725A09}"/>
              </a:ext>
            </a:extLst>
          </p:cNvPr>
          <p:cNvSpPr txBox="1"/>
          <p:nvPr/>
        </p:nvSpPr>
        <p:spPr>
          <a:xfrm>
            <a:off x="6179819" y="6223000"/>
            <a:ext cx="5654039" cy="461665"/>
          </a:xfrm>
          <a:prstGeom prst="rect">
            <a:avLst/>
          </a:prstGeom>
          <a:noFill/>
        </p:spPr>
        <p:txBody>
          <a:bodyPr wrap="square" rtlCol="0">
            <a:spAutoFit/>
          </a:bodyPr>
          <a:lstStyle/>
          <a:p>
            <a:r>
              <a:rPr lang="en-US" sz="1200" dirty="0">
                <a:solidFill>
                  <a:srgbClr val="C00000"/>
                </a:solidFill>
              </a:rPr>
              <a:t>Image of </a:t>
            </a:r>
            <a:r>
              <a:rPr lang="en-US" sz="1200" dirty="0" err="1">
                <a:solidFill>
                  <a:srgbClr val="C00000"/>
                </a:solidFill>
              </a:rPr>
              <a:t>Pokemon</a:t>
            </a:r>
            <a:r>
              <a:rPr lang="en-US" sz="1200" dirty="0">
                <a:solidFill>
                  <a:srgbClr val="C00000"/>
                </a:solidFill>
              </a:rPr>
              <a:t> snapshots taken during ai training from the assets of Whidden’s GitHub. [1]</a:t>
            </a:r>
          </a:p>
        </p:txBody>
      </p:sp>
    </p:spTree>
    <p:extLst>
      <p:ext uri="{BB962C8B-B14F-4D97-AF65-F5344CB8AC3E}">
        <p14:creationId xmlns:p14="http://schemas.microsoft.com/office/powerpoint/2010/main" val="1834936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a:xfrm>
            <a:off x="634029" y="623884"/>
            <a:ext cx="10923934" cy="755659"/>
          </a:xfrm>
        </p:spPr>
        <p:txBody>
          <a:bodyPr>
            <a:normAutofit/>
          </a:bodyPr>
          <a:lstStyle/>
          <a:p>
            <a:r>
              <a:rPr lang="en-US" dirty="0"/>
              <a:t>Changes Made to Reinforcements</a:t>
            </a:r>
          </a:p>
        </p:txBody>
      </p:sp>
      <p:graphicFrame>
        <p:nvGraphicFramePr>
          <p:cNvPr id="7" name="Content Placeholder 6">
            <a:extLst>
              <a:ext uri="{FF2B5EF4-FFF2-40B4-BE49-F238E27FC236}">
                <a16:creationId xmlns:a16="http://schemas.microsoft.com/office/drawing/2014/main" id="{69780BEB-FFD1-3971-F361-1B40A8D66893}"/>
              </a:ext>
            </a:extLst>
          </p:cNvPr>
          <p:cNvGraphicFramePr>
            <a:graphicFrameLocks noGrp="1"/>
          </p:cNvGraphicFramePr>
          <p:nvPr>
            <p:ph idx="1"/>
            <p:extLst>
              <p:ext uri="{D42A27DB-BD31-4B8C-83A1-F6EECF244321}">
                <p14:modId xmlns:p14="http://schemas.microsoft.com/office/powerpoint/2010/main" val="441027070"/>
              </p:ext>
            </p:extLst>
          </p:nvPr>
        </p:nvGraphicFramePr>
        <p:xfrm>
          <a:off x="634029" y="1526787"/>
          <a:ext cx="10923933" cy="4837810"/>
        </p:xfrm>
        <a:graphic>
          <a:graphicData uri="http://schemas.openxmlformats.org/drawingml/2006/table">
            <a:tbl>
              <a:tblPr firstRow="1">
                <a:tableStyleId>{0E3FDE45-AF77-4B5C-9715-49D594BDF05E}</a:tableStyleId>
              </a:tblPr>
              <a:tblGrid>
                <a:gridCol w="3641311">
                  <a:extLst>
                    <a:ext uri="{9D8B030D-6E8A-4147-A177-3AD203B41FA5}">
                      <a16:colId xmlns:a16="http://schemas.microsoft.com/office/drawing/2014/main" val="3168546316"/>
                    </a:ext>
                  </a:extLst>
                </a:gridCol>
                <a:gridCol w="3641311">
                  <a:extLst>
                    <a:ext uri="{9D8B030D-6E8A-4147-A177-3AD203B41FA5}">
                      <a16:colId xmlns:a16="http://schemas.microsoft.com/office/drawing/2014/main" val="3249273269"/>
                    </a:ext>
                  </a:extLst>
                </a:gridCol>
                <a:gridCol w="3641311">
                  <a:extLst>
                    <a:ext uri="{9D8B030D-6E8A-4147-A177-3AD203B41FA5}">
                      <a16:colId xmlns:a16="http://schemas.microsoft.com/office/drawing/2014/main" val="2175169288"/>
                    </a:ext>
                  </a:extLst>
                </a:gridCol>
              </a:tblGrid>
              <a:tr h="818705">
                <a:tc>
                  <a:txBody>
                    <a:bodyPr/>
                    <a:lstStyle/>
                    <a:p>
                      <a:r>
                        <a:rPr lang="en-US" sz="1600" b="0" i="0" dirty="0">
                          <a:solidFill>
                            <a:schemeClr val="accent2"/>
                          </a:solidFill>
                          <a:latin typeface="+mj-lt"/>
                        </a:rPr>
                        <a:t>Feature</a:t>
                      </a:r>
                    </a:p>
                  </a:txBody>
                  <a:tcPr anchor="ctr"/>
                </a:tc>
                <a:tc>
                  <a:txBody>
                    <a:bodyPr/>
                    <a:lstStyle/>
                    <a:p>
                      <a:r>
                        <a:rPr lang="en-US" sz="1600" b="0" dirty="0">
                          <a:solidFill>
                            <a:schemeClr val="accent2"/>
                          </a:solidFill>
                          <a:latin typeface="+mj-lt"/>
                        </a:rPr>
                        <a:t>Change</a:t>
                      </a:r>
                      <a:endParaRPr lang="en-US" sz="1600" b="0" i="0" dirty="0">
                        <a:solidFill>
                          <a:schemeClr val="accent2"/>
                        </a:solidFill>
                        <a:latin typeface="+mj-lt"/>
                      </a:endParaRPr>
                    </a:p>
                  </a:txBody>
                  <a:tcPr anchor="ctr"/>
                </a:tc>
                <a:tc>
                  <a:txBody>
                    <a:bodyPr/>
                    <a:lstStyle/>
                    <a:p>
                      <a:r>
                        <a:rPr lang="en-US" sz="1600" b="0" dirty="0">
                          <a:solidFill>
                            <a:schemeClr val="accent2"/>
                          </a:solidFill>
                          <a:latin typeface="+mj-lt"/>
                        </a:rPr>
                        <a:t>Purpose</a:t>
                      </a:r>
                      <a:endParaRPr lang="en-US" sz="1600" b="0" i="0" dirty="0">
                        <a:solidFill>
                          <a:schemeClr val="accent2"/>
                        </a:solidFill>
                        <a:latin typeface="+mj-lt"/>
                      </a:endParaRPr>
                    </a:p>
                  </a:txBody>
                  <a:tcPr anchor="ctr"/>
                </a:tc>
                <a:extLst>
                  <a:ext uri="{0D108BD9-81ED-4DB2-BD59-A6C34878D82A}">
                    <a16:rowId xmlns:a16="http://schemas.microsoft.com/office/drawing/2014/main" val="3364231172"/>
                  </a:ext>
                </a:extLst>
              </a:tr>
              <a:tr h="818705">
                <a:tc>
                  <a:txBody>
                    <a:bodyPr/>
                    <a:lstStyle/>
                    <a:p>
                      <a:r>
                        <a:rPr lang="en-US" sz="1600" b="0" dirty="0">
                          <a:solidFill>
                            <a:schemeClr val="accent2"/>
                          </a:solidFill>
                          <a:latin typeface="+mn-lt"/>
                        </a:rPr>
                        <a:t>Combat</a:t>
                      </a:r>
                      <a:endParaRPr lang="en-US" sz="1600" b="0" i="0" dirty="0">
                        <a:solidFill>
                          <a:schemeClr val="accent2"/>
                        </a:solidFill>
                        <a:latin typeface="+mn-lt"/>
                      </a:endParaRPr>
                    </a:p>
                  </a:txBody>
                  <a:tcPr anchor="ctr"/>
                </a:tc>
                <a:tc>
                  <a:txBody>
                    <a:bodyPr/>
                    <a:lstStyle/>
                    <a:p>
                      <a:r>
                        <a:rPr lang="en-US" sz="1600" b="0" dirty="0">
                          <a:solidFill>
                            <a:schemeClr val="accent2"/>
                          </a:solidFill>
                          <a:latin typeface="+mn-lt"/>
                        </a:rPr>
                        <a:t>KO, high damage rewarded, player fainting penalty</a:t>
                      </a:r>
                      <a:endParaRPr lang="en-US" sz="1600" b="0" i="0" dirty="0">
                        <a:solidFill>
                          <a:schemeClr val="accent2"/>
                        </a:solidFill>
                        <a:latin typeface="+mn-lt"/>
                      </a:endParaRPr>
                    </a:p>
                  </a:txBody>
                  <a:tcPr anchor="ctr"/>
                </a:tc>
                <a:tc>
                  <a:txBody>
                    <a:bodyPr/>
                    <a:lstStyle/>
                    <a:p>
                      <a:r>
                        <a:rPr lang="en-US" sz="1600" b="0" dirty="0">
                          <a:solidFill>
                            <a:schemeClr val="accent2"/>
                          </a:solidFill>
                          <a:latin typeface="+mn-lt"/>
                        </a:rPr>
                        <a:t>Encourage battling with damage dealing super-effective and high-damage moves</a:t>
                      </a:r>
                      <a:endParaRPr lang="en-US" sz="1600" b="0" i="0" dirty="0">
                        <a:solidFill>
                          <a:schemeClr val="accent2"/>
                        </a:solidFill>
                        <a:latin typeface="+mn-lt"/>
                      </a:endParaRPr>
                    </a:p>
                  </a:txBody>
                  <a:tcPr anchor="ctr"/>
                </a:tc>
                <a:extLst>
                  <a:ext uri="{0D108BD9-81ED-4DB2-BD59-A6C34878D82A}">
                    <a16:rowId xmlns:a16="http://schemas.microsoft.com/office/drawing/2014/main" val="3559441191"/>
                  </a:ext>
                </a:extLst>
              </a:tr>
              <a:tr h="818705">
                <a:tc>
                  <a:txBody>
                    <a:bodyPr/>
                    <a:lstStyle/>
                    <a:p>
                      <a:r>
                        <a:rPr lang="en-US" sz="1600" b="0" dirty="0">
                          <a:solidFill>
                            <a:schemeClr val="accent2"/>
                          </a:solidFill>
                          <a:latin typeface="+mn-lt"/>
                        </a:rPr>
                        <a:t>Movement</a:t>
                      </a:r>
                      <a:endParaRPr lang="en-US" sz="1600" b="0" i="0" dirty="0">
                        <a:solidFill>
                          <a:schemeClr val="accent2"/>
                        </a:solidFill>
                        <a:latin typeface="+mn-lt"/>
                      </a:endParaRPr>
                    </a:p>
                  </a:txBody>
                  <a:tcPr anchor="ctr"/>
                </a:tc>
                <a:tc>
                  <a:txBody>
                    <a:bodyPr/>
                    <a:lstStyle/>
                    <a:p>
                      <a:r>
                        <a:rPr lang="en-US" sz="1600" b="0" i="0" dirty="0">
                          <a:solidFill>
                            <a:schemeClr val="accent2"/>
                          </a:solidFill>
                          <a:latin typeface="+mn-lt"/>
                        </a:rPr>
                        <a:t>Jitter penalty, reward staying in one direction, penalty for staying in menu or one map too long, reward for getting to new areas quickly</a:t>
                      </a:r>
                    </a:p>
                  </a:txBody>
                  <a:tcPr anchor="ctr"/>
                </a:tc>
                <a:tc>
                  <a:txBody>
                    <a:bodyPr/>
                    <a:lstStyle/>
                    <a:p>
                      <a:r>
                        <a:rPr lang="en-US" sz="1600" b="0" dirty="0">
                          <a:solidFill>
                            <a:schemeClr val="accent2"/>
                          </a:solidFill>
                          <a:latin typeface="+mn-lt"/>
                        </a:rPr>
                        <a:t>To encourage player movement by penalizing walking in place, staying in menus and jittering in place. Walking in one direction and getting quickly to new maps rewarded</a:t>
                      </a:r>
                      <a:endParaRPr lang="en-US" sz="1600" b="0" i="0" dirty="0">
                        <a:solidFill>
                          <a:schemeClr val="accent2"/>
                        </a:solidFill>
                        <a:latin typeface="+mn-lt"/>
                      </a:endParaRPr>
                    </a:p>
                  </a:txBody>
                  <a:tcPr anchor="ctr"/>
                </a:tc>
                <a:extLst>
                  <a:ext uri="{0D108BD9-81ED-4DB2-BD59-A6C34878D82A}">
                    <a16:rowId xmlns:a16="http://schemas.microsoft.com/office/drawing/2014/main" val="1425558636"/>
                  </a:ext>
                </a:extLst>
              </a:tr>
              <a:tr h="818705">
                <a:tc>
                  <a:txBody>
                    <a:bodyPr/>
                    <a:lstStyle/>
                    <a:p>
                      <a:r>
                        <a:rPr lang="en-US" sz="1600" b="0" i="0" dirty="0">
                          <a:solidFill>
                            <a:schemeClr val="accent2"/>
                          </a:solidFill>
                          <a:latin typeface="+mn-lt"/>
                        </a:rPr>
                        <a:t>Game Assets</a:t>
                      </a:r>
                    </a:p>
                  </a:txBody>
                  <a:tcPr anchor="ctr"/>
                </a:tc>
                <a:tc>
                  <a:txBody>
                    <a:bodyPr/>
                    <a:lstStyle/>
                    <a:p>
                      <a:r>
                        <a:rPr lang="en-US" sz="1600" b="0" dirty="0">
                          <a:solidFill>
                            <a:schemeClr val="accent2"/>
                          </a:solidFill>
                          <a:latin typeface="+mn-lt"/>
                        </a:rPr>
                        <a:t>Extra rewards for picking up free items, getting badges, getting HMs, adding </a:t>
                      </a:r>
                      <a:r>
                        <a:rPr lang="en-US" sz="1600" b="0" dirty="0" err="1">
                          <a:solidFill>
                            <a:schemeClr val="accent2"/>
                          </a:solidFill>
                          <a:latin typeface="+mn-lt"/>
                        </a:rPr>
                        <a:t>pokemon</a:t>
                      </a:r>
                      <a:r>
                        <a:rPr lang="en-US" sz="1600" b="0" dirty="0">
                          <a:solidFill>
                            <a:schemeClr val="accent2"/>
                          </a:solidFill>
                          <a:latin typeface="+mn-lt"/>
                        </a:rPr>
                        <a:t> to party</a:t>
                      </a:r>
                      <a:endParaRPr lang="en-US" sz="1600" b="0" i="0" dirty="0">
                        <a:solidFill>
                          <a:schemeClr val="accent2"/>
                        </a:solidFill>
                        <a:latin typeface="+mn-lt"/>
                      </a:endParaRPr>
                    </a:p>
                  </a:txBody>
                  <a:tcPr anchor="ctr"/>
                </a:tc>
                <a:tc>
                  <a:txBody>
                    <a:bodyPr/>
                    <a:lstStyle/>
                    <a:p>
                      <a:r>
                        <a:rPr lang="en-US" sz="1600" b="0" i="0" dirty="0">
                          <a:solidFill>
                            <a:schemeClr val="accent2"/>
                          </a:solidFill>
                          <a:latin typeface="+mn-lt"/>
                        </a:rPr>
                        <a:t>Encourage acquiring assets needed to progress in the game and to make game progression easier</a:t>
                      </a:r>
                    </a:p>
                  </a:txBody>
                  <a:tcPr anchor="ctr"/>
                </a:tc>
                <a:extLst>
                  <a:ext uri="{0D108BD9-81ED-4DB2-BD59-A6C34878D82A}">
                    <a16:rowId xmlns:a16="http://schemas.microsoft.com/office/drawing/2014/main" val="1609158448"/>
                  </a:ext>
                </a:extLst>
              </a:tr>
              <a:tr h="818705">
                <a:tc>
                  <a:txBody>
                    <a:bodyPr/>
                    <a:lstStyle/>
                    <a:p>
                      <a:r>
                        <a:rPr lang="en-US" sz="1600" b="0" dirty="0">
                          <a:solidFill>
                            <a:schemeClr val="accent2"/>
                          </a:solidFill>
                          <a:latin typeface="+mn-lt"/>
                        </a:rPr>
                        <a:t>Original Code</a:t>
                      </a:r>
                      <a:endParaRPr lang="en-US" sz="1600" b="0" i="0" dirty="0">
                        <a:solidFill>
                          <a:schemeClr val="accent2"/>
                        </a:solidFill>
                        <a:latin typeface="+mn-lt"/>
                      </a:endParaRPr>
                    </a:p>
                  </a:txBody>
                  <a:tcPr anchor="ctr"/>
                </a:tc>
                <a:tc>
                  <a:txBody>
                    <a:bodyPr/>
                    <a:lstStyle/>
                    <a:p>
                      <a:r>
                        <a:rPr lang="en-US" sz="1600" b="0" dirty="0">
                          <a:solidFill>
                            <a:schemeClr val="accent2"/>
                          </a:solidFill>
                          <a:latin typeface="+mn-lt"/>
                        </a:rPr>
                        <a:t>Modifications made to original healing and exploration</a:t>
                      </a:r>
                      <a:endParaRPr lang="en-US" sz="1600" b="0" i="0" dirty="0">
                        <a:solidFill>
                          <a:schemeClr val="accent2"/>
                        </a:solidFill>
                        <a:latin typeface="+mn-lt"/>
                      </a:endParaRPr>
                    </a:p>
                  </a:txBody>
                  <a:tcPr anchor="ctr"/>
                </a:tc>
                <a:tc>
                  <a:txBody>
                    <a:bodyPr/>
                    <a:lstStyle/>
                    <a:p>
                      <a:r>
                        <a:rPr lang="en-US" sz="1600" b="0" i="0" dirty="0">
                          <a:solidFill>
                            <a:schemeClr val="accent2"/>
                          </a:solidFill>
                          <a:latin typeface="+mn-lt"/>
                        </a:rPr>
                        <a:t>Prevent healing from being repetitively farmed with no progress forward and reduce exploration because it was a very high reward</a:t>
                      </a:r>
                    </a:p>
                  </a:txBody>
                  <a:tcPr anchor="ctr"/>
                </a:tc>
                <a:extLst>
                  <a:ext uri="{0D108BD9-81ED-4DB2-BD59-A6C34878D82A}">
                    <a16:rowId xmlns:a16="http://schemas.microsoft.com/office/drawing/2014/main" val="3142950618"/>
                  </a:ext>
                </a:extLst>
              </a:tr>
            </a:tbl>
          </a:graphicData>
        </a:graphic>
      </p:graphicFrame>
    </p:spTree>
    <p:extLst>
      <p:ext uri="{BB962C8B-B14F-4D97-AF65-F5344CB8AC3E}">
        <p14:creationId xmlns:p14="http://schemas.microsoft.com/office/powerpoint/2010/main" val="1135043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6F974-6CDC-CB6E-F2D8-F6D48BA4BECE}"/>
              </a:ext>
            </a:extLst>
          </p:cNvPr>
          <p:cNvSpPr>
            <a:spLocks noGrp="1"/>
          </p:cNvSpPr>
          <p:nvPr>
            <p:ph type="title"/>
          </p:nvPr>
        </p:nvSpPr>
        <p:spPr>
          <a:solidFill>
            <a:schemeClr val="bg2"/>
          </a:solidFill>
        </p:spPr>
        <p:txBody>
          <a:bodyPr/>
          <a:lstStyle/>
          <a:p>
            <a:r>
              <a:rPr lang="en-US" dirty="0"/>
              <a:t>Demo </a:t>
            </a:r>
          </a:p>
        </p:txBody>
      </p:sp>
      <p:sp>
        <p:nvSpPr>
          <p:cNvPr id="3" name="Content Placeholder 2">
            <a:extLst>
              <a:ext uri="{FF2B5EF4-FFF2-40B4-BE49-F238E27FC236}">
                <a16:creationId xmlns:a16="http://schemas.microsoft.com/office/drawing/2014/main" id="{005F428C-8D24-608F-0915-EC5C18DE1F42}"/>
              </a:ext>
            </a:extLst>
          </p:cNvPr>
          <p:cNvSpPr>
            <a:spLocks noGrp="1"/>
          </p:cNvSpPr>
          <p:nvPr>
            <p:ph idx="1"/>
          </p:nvPr>
        </p:nvSpPr>
        <p:spPr/>
        <p:txBody>
          <a:bodyPr/>
          <a:lstStyle/>
          <a:p>
            <a:pPr marL="0" indent="0">
              <a:buNone/>
            </a:pPr>
            <a:r>
              <a:rPr lang="en-US" dirty="0"/>
              <a:t>If all goes to plan, I will be on zoom on the computer with the AI training. </a:t>
            </a:r>
          </a:p>
          <a:p>
            <a:pPr marL="0" indent="0">
              <a:buNone/>
            </a:pPr>
            <a:r>
              <a:rPr lang="en-US" dirty="0"/>
              <a:t>It used to be a retail cash register, and some of its settings were bizarre when I started setting it up. </a:t>
            </a:r>
          </a:p>
          <a:p>
            <a:pPr marL="0" indent="0">
              <a:buNone/>
            </a:pPr>
            <a:r>
              <a:rPr lang="en-US" dirty="0"/>
              <a:t>Worse case scenario, I can send you a video of the program, and the code I altered (other than for set-up) is in a .zip on GitHub. https://github.com/WSU-JB5757/440_AI_Project</a:t>
            </a:r>
          </a:p>
        </p:txBody>
      </p:sp>
    </p:spTree>
    <p:extLst>
      <p:ext uri="{BB962C8B-B14F-4D97-AF65-F5344CB8AC3E}">
        <p14:creationId xmlns:p14="http://schemas.microsoft.com/office/powerpoint/2010/main" val="26084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a:xfrm>
            <a:off x="486544" y="255637"/>
            <a:ext cx="5776604" cy="648930"/>
          </a:xfrm>
        </p:spPr>
        <p:txBody>
          <a:bodyPr/>
          <a:lstStyle/>
          <a:p>
            <a:r>
              <a:rPr lang="en-US" dirty="0"/>
              <a:t>Results and Conclusions</a:t>
            </a:r>
          </a:p>
        </p:txBody>
      </p:sp>
      <p:sp>
        <p:nvSpPr>
          <p:cNvPr id="3" name="Content Placeholder 2">
            <a:extLst>
              <a:ext uri="{FF2B5EF4-FFF2-40B4-BE49-F238E27FC236}">
                <a16:creationId xmlns:a16="http://schemas.microsoft.com/office/drawing/2014/main" id="{3C6EE18F-CF72-C06C-3020-B9FA4DEAB729}"/>
              </a:ext>
            </a:extLst>
          </p:cNvPr>
          <p:cNvSpPr>
            <a:spLocks noGrp="1"/>
          </p:cNvSpPr>
          <p:nvPr>
            <p:ph sz="quarter" idx="14"/>
          </p:nvPr>
        </p:nvSpPr>
        <p:spPr>
          <a:xfrm>
            <a:off x="486544" y="993059"/>
            <a:ext cx="5049017" cy="5771535"/>
          </a:xfrm>
        </p:spPr>
        <p:txBody>
          <a:bodyPr/>
          <a:lstStyle/>
          <a:p>
            <a:r>
              <a:rPr lang="en-US" sz="1600" dirty="0"/>
              <a:t>Unfortunately, the reward for uniform direction was set to reward not changing direction rather than forward progress. So the AI began to farm this risk – free source of points and did not progress further in the game. This reward has been nerfed and exploration rewards have been increased.</a:t>
            </a:r>
          </a:p>
          <a:p>
            <a:r>
              <a:rPr lang="en-US" sz="1600" dirty="0"/>
              <a:t>In earlier versions, the combat system was over – powered and the AI lost all interest in progressing and staying in the first grass patch and farmed combat rewards. Combat rewards were nerfed to be less.</a:t>
            </a:r>
          </a:p>
          <a:p>
            <a:r>
              <a:rPr lang="en-US" sz="1600" dirty="0"/>
              <a:t>Originally, the AI would progress to Mt. Moon and get stuck there for hours scrolling through menus and running against walls. The menu and movement penalties have fixed this.</a:t>
            </a:r>
          </a:p>
          <a:p>
            <a:r>
              <a:rPr lang="en-US" sz="1600" dirty="0"/>
              <a:t>There is still some small alterations, and many hours of training to get my version of the AI to beat Mt. Moon, unfortunately.</a:t>
            </a:r>
          </a:p>
          <a:p>
            <a:endParaRPr lang="en-US" dirty="0"/>
          </a:p>
          <a:p>
            <a:endParaRPr lang="en-US" dirty="0"/>
          </a:p>
          <a:p>
            <a:endParaRPr lang="en-US" dirty="0"/>
          </a:p>
        </p:txBody>
      </p:sp>
    </p:spTree>
    <p:extLst>
      <p:ext uri="{BB962C8B-B14F-4D97-AF65-F5344CB8AC3E}">
        <p14:creationId xmlns:p14="http://schemas.microsoft.com/office/powerpoint/2010/main" val="223655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8FC4F8-F3AB-C5F3-1C8C-E95B9389AE85}"/>
              </a:ext>
            </a:extLst>
          </p:cNvPr>
          <p:cNvSpPr>
            <a:spLocks noGrp="1"/>
          </p:cNvSpPr>
          <p:nvPr>
            <p:ph type="title"/>
          </p:nvPr>
        </p:nvSpPr>
        <p:spPr/>
        <p:txBody>
          <a:bodyPr/>
          <a:lstStyle/>
          <a:p>
            <a:r>
              <a:rPr lang="en-US" dirty="0"/>
              <a:t>References</a:t>
            </a:r>
          </a:p>
        </p:txBody>
      </p:sp>
      <p:sp>
        <p:nvSpPr>
          <p:cNvPr id="5" name="Text Placeholder 4">
            <a:extLst>
              <a:ext uri="{FF2B5EF4-FFF2-40B4-BE49-F238E27FC236}">
                <a16:creationId xmlns:a16="http://schemas.microsoft.com/office/drawing/2014/main" id="{FCB0B677-1767-51E5-C61F-739277B00EE1}"/>
              </a:ext>
            </a:extLst>
          </p:cNvPr>
          <p:cNvSpPr>
            <a:spLocks noGrp="1"/>
          </p:cNvSpPr>
          <p:nvPr>
            <p:ph type="body" sz="quarter" idx="13"/>
          </p:nvPr>
        </p:nvSpPr>
        <p:spPr>
          <a:xfrm>
            <a:off x="634030" y="2138374"/>
            <a:ext cx="10945316" cy="4084626"/>
          </a:xfrm>
        </p:spPr>
        <p:txBody>
          <a:bodyPr/>
          <a:lstStyle/>
          <a:p>
            <a:pPr marL="0" indent="0">
              <a:buNone/>
            </a:pPr>
            <a:r>
              <a:rPr lang="en-US" dirty="0"/>
              <a:t>[1]      Peter Whidden. “</a:t>
            </a:r>
            <a:r>
              <a:rPr lang="en-US" dirty="0" err="1">
                <a:solidFill>
                  <a:srgbClr val="C00000"/>
                </a:solidFill>
                <a:hlinkClick r:id="rId2">
                  <a:extLst>
                    <a:ext uri="{A12FA001-AC4F-418D-AE19-62706E023703}">
                      <ahyp:hlinkClr xmlns:ahyp="http://schemas.microsoft.com/office/drawing/2018/hyperlinkcolor" val="tx"/>
                    </a:ext>
                  </a:extLst>
                </a:hlinkClick>
              </a:rPr>
              <a:t>PokemonRedExperiments</a:t>
            </a:r>
            <a:r>
              <a:rPr lang="en-US" dirty="0"/>
              <a:t>.” https://github.com/PWhiddy/PokemonRedExperiments. (accessed 5 - 4 - 26).</a:t>
            </a:r>
          </a:p>
          <a:p>
            <a:pPr marL="0" indent="0">
              <a:buNone/>
            </a:pPr>
            <a:r>
              <a:rPr lang="en-US" dirty="0"/>
              <a:t>[2]      Elton Jones. “Pokémon reveals what AI still gets wrong — here’s what I found.” https://www.tomsguide.com/ai/pokemon-isnt-just-a-multimillion-dollar-franchise-its-one-of-the-best-testing-grounds-for-modern-ai-tools. (accessed 5 - 4 - 26).</a:t>
            </a:r>
          </a:p>
          <a:p>
            <a:pPr marL="0" indent="0">
              <a:buNone/>
            </a:pPr>
            <a:endParaRPr lang="en-US" dirty="0"/>
          </a:p>
          <a:p>
            <a:pPr marL="0" indent="0">
              <a:buNone/>
            </a:pPr>
            <a:endParaRPr lang="en-US" dirty="0"/>
          </a:p>
          <a:p>
            <a:pPr marL="0" indent="0">
              <a:buNone/>
            </a:pPr>
            <a:endParaRPr lang="en-US" dirty="0"/>
          </a:p>
          <a:p>
            <a:pPr marL="0" indent="0">
              <a:buNone/>
            </a:pPr>
            <a:r>
              <a:rPr lang="en-US" dirty="0"/>
              <a:t>Note: ChatGPT Generative AI was used on this project for both coding and instructions in set-up and troubleshooting.</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65682045"/>
      </p:ext>
    </p:extLst>
  </p:cSld>
  <p:clrMapOvr>
    <a:masterClrMapping/>
  </p:clrMapOvr>
</p:sld>
</file>

<file path=ppt/theme/theme1.xml><?xml version="1.0" encoding="utf-8"?>
<a:theme xmlns:a="http://schemas.openxmlformats.org/drawingml/2006/main" name="RetroFormFusion">
  <a:themeElements>
    <a:clrScheme name="Retro Form Fusion">
      <a:dk1>
        <a:srgbClr val="000000"/>
      </a:dk1>
      <a:lt1>
        <a:srgbClr val="FFFFFF"/>
      </a:lt1>
      <a:dk2>
        <a:srgbClr val="2C3932"/>
      </a:dk2>
      <a:lt2>
        <a:srgbClr val="FDF6EA"/>
      </a:lt2>
      <a:accent1>
        <a:srgbClr val="E7E9A8"/>
      </a:accent1>
      <a:accent2>
        <a:srgbClr val="C02C0D"/>
      </a:accent2>
      <a:accent3>
        <a:srgbClr val="C9A7E8"/>
      </a:accent3>
      <a:accent4>
        <a:srgbClr val="242C40"/>
      </a:accent4>
      <a:accent5>
        <a:srgbClr val="D90C65"/>
      </a:accent5>
      <a:accent6>
        <a:srgbClr val="3C5569"/>
      </a:accent6>
      <a:hlink>
        <a:srgbClr val="169C9A"/>
      </a:hlink>
      <a:folHlink>
        <a:srgbClr val="E15C3D"/>
      </a:folHlink>
    </a:clrScheme>
    <a:fontScheme name="Custom 44">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tro form fusion_Marketing Presentation_win32_SD_V6" id="{1B74A257-43A2-48DC-AABC-425ADD1BD4C0}" vid="{0AB9CF50-3A4C-496A-BE11-F38E096BD9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CEDABF-7176-4A42-8EF9-E5D4DD31FF6C}">
  <ds:schemaRefs>
    <ds:schemaRef ds:uri="71af3243-3dd4-4a8d-8c0d-dd76da1f02a5"/>
    <ds:schemaRef ds:uri="http://purl.org/dc/dcmitype/"/>
    <ds:schemaRef ds:uri="16c05727-aa75-4e4a-9b5f-8a80a1165891"/>
    <ds:schemaRef ds:uri="http://purl.org/dc/elements/1.1/"/>
    <ds:schemaRef ds:uri="http://www.w3.org/XML/1998/namespace"/>
    <ds:schemaRef ds:uri="http://schemas.microsoft.com/sharepoint/v3"/>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{D27BA237-8ADA-4097-9CEA-7F3D00E3CB8E}3b1ee2c4-488f-4f6f-879d-8700a6d4fc2b-TF68a6f5d8-383f-4bee-98cb-6033b297636b_win32</Template>
  <TotalTime>73</TotalTime>
  <Words>903</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Franklin Gothic Book</vt:lpstr>
      <vt:lpstr>Franklin Gothic Demi</vt:lpstr>
      <vt:lpstr>RetroFormFusion</vt:lpstr>
      <vt:lpstr>Pokemon Game Playing Agent</vt:lpstr>
      <vt:lpstr>Introduction</vt:lpstr>
      <vt:lpstr>Problem Statement:</vt:lpstr>
      <vt:lpstr>Project Implementation</vt:lpstr>
      <vt:lpstr>Changes Made to Reinforcements</vt:lpstr>
      <vt:lpstr>Demo </vt:lpstr>
      <vt:lpstr>Results and 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Butterworth, Jodie</dc:creator>
  <cp:lastModifiedBy>Butterworth, Jodie</cp:lastModifiedBy>
  <cp:revision>10</cp:revision>
  <dcterms:created xsi:type="dcterms:W3CDTF">2026-05-05T06:07:19Z</dcterms:created>
  <dcterms:modified xsi:type="dcterms:W3CDTF">2026-05-05T07:22:07Z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